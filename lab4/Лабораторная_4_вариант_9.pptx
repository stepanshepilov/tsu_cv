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7"/>
  </p:normalViewPr>
  <p:slideViewPr>
    <p:cSldViewPr snapToGrid="0" snapToObjects="1">
      <p:cViewPr varScale="1">
        <p:scale>
          <a:sx n="136" d="100"/>
          <a:sy n="136" d="100"/>
        </p:scale>
        <p:origin x="21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5532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60"/>
              <a:t>ЛАБОРАТОРНАЯ РАБОТА 4 · ВАРИАНТ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5532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800" b="1">
                <a:solidFill>
                  <a:srgbClr val="15171C"/>
                </a:solidFill>
                <a:latin typeface="Helvetica Neue"/>
              </a:defRPr>
            </a:pPr>
            <a:r>
              <a:t>Фильтрация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3800" b="1">
                <a:solidFill>
                  <a:srgbClr val="15171C"/>
                </a:solidFill>
                <a:latin typeface="Helvetica Neue"/>
              </a:defRPr>
            </a:pPr>
            <a:r>
              <a:t>изображений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77056"/>
            <a:ext cx="5532120" cy="1442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rPr dirty="0" err="1"/>
              <a:t>Пространственные</a:t>
            </a:r>
            <a:r>
              <a:rPr dirty="0"/>
              <a:t> </a:t>
            </a:r>
            <a:r>
              <a:rPr dirty="0" err="1"/>
              <a:t>фильтры</a:t>
            </a:r>
            <a:r>
              <a:rPr dirty="0"/>
              <a:t>, </a:t>
            </a:r>
            <a:r>
              <a:rPr dirty="0" err="1"/>
              <a:t>оператор</a:t>
            </a:r>
            <a:r>
              <a:rPr dirty="0"/>
              <a:t> </a:t>
            </a:r>
            <a:r>
              <a:rPr dirty="0" err="1"/>
              <a:t>Собеля</a:t>
            </a:r>
            <a:endParaRPr dirty="0"/>
          </a:p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частотная</a:t>
            </a:r>
            <a:r>
              <a:rPr dirty="0"/>
              <a:t> </a:t>
            </a:r>
            <a:r>
              <a:rPr dirty="0" err="1"/>
              <a:t>фильтрация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БПФ</a:t>
            </a:r>
            <a:endParaRPr lang="ru-RU" dirty="0"/>
          </a:p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endParaRPr lang="ru-RU" dirty="0"/>
          </a:p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rPr lang="ru-RU" dirty="0"/>
              <a:t>Кошелев Егор, Шепилов Степан, гр.932302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5742432"/>
            <a:ext cx="6903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Компьютерное зрение · OpenCV · NumPy · Matplotlib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83" y="2167109"/>
            <a:ext cx="4645152" cy="2615221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4 · вариант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ПОСТАНОВКА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Задание варианта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Пять фильтров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4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2598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075688"/>
            <a:ext cx="63185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Применить усредняющий фильтр 5 × 5 и 11 ×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974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76606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715768"/>
            <a:ext cx="63185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Удалить шум «соль и перец» медианным фильтром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375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40614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355848"/>
            <a:ext cx="63185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Выделить границы оператором Собеля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77639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04622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95927"/>
            <a:ext cx="63185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Реализовать фильтр повышения резкости sharpen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177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68630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4636007"/>
            <a:ext cx="63185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Реализовать гауссов высокочастотный фильтр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2011680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57615" y="2191512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1000 × 563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5" y="2593848"/>
            <a:ext cx="2752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размер кадра, пикселей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194304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57615" y="3374136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0 … 255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5" y="3776472"/>
            <a:ext cx="2752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диапазон значений яркости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4376928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57615" y="4556760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σ = 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5" y="4959096"/>
            <a:ext cx="2752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параметр гауссова ВЧ-фильтра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ТЕОРИЯ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Два взгляда на фильтрацию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Одно и то же действие в разных пространствах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4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38528"/>
            <a:ext cx="3355848" cy="2512771"/>
          </a:xfrm>
          <a:prstGeom prst="roundRect">
            <a:avLst>
              <a:gd name="adj" fmla="val 509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2807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Пространственная область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96896"/>
            <a:ext cx="2807208" cy="159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g(x, y) = ΣΣ h(i, j)·f(x − i, y − j). Ядро идёт по изображению, а его коэффициенты задают вклад соседей. Удобно для локальных операций и небольших ядер.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938528"/>
            <a:ext cx="3355848" cy="2512771"/>
          </a:xfrm>
          <a:prstGeom prst="roundRect">
            <a:avLst>
              <a:gd name="adj" fmla="val 509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2212848"/>
            <a:ext cx="2807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Нелинейные фильтры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596896"/>
            <a:ext cx="2807208" cy="159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Медианный фильтр сортирует значения в окне и берёт центральное. Он не линейная комбинация, поэтому лучше сохраняет границы при импульсном шуме.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938528"/>
            <a:ext cx="3355848" cy="2512771"/>
          </a:xfrm>
          <a:prstGeom prst="roundRect">
            <a:avLst>
              <a:gd name="adj" fmla="val 509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4464" y="2212848"/>
            <a:ext cx="2807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Частотная область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596896"/>
            <a:ext cx="2807208" cy="159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Низкие частоты — плавный фон и крупные формы, высокие — резкие переходы, мелкие детали и шум. Свёртка превращается в поэлементное умножение спектров.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43907"/>
            <a:ext cx="10543032" cy="1146048"/>
          </a:xfrm>
          <a:prstGeom prst="roundRect">
            <a:avLst>
              <a:gd name="adj" fmla="val 1117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60704" y="4981651"/>
            <a:ext cx="50292" cy="670560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999939"/>
            <a:ext cx="9701784" cy="633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600" b="0">
                <a:solidFill>
                  <a:srgbClr val="5B6070"/>
                </a:solidFill>
                <a:latin typeface="Helvetica Neue"/>
              </a:defRPr>
            </a:pPr>
            <a:r>
              <a:t>Большое окно сильнее подавляет шум, но сильнее размывает границы и мелкие детали — этот компромисс виден во всех результатах ниже.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Усредняющий фильтр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Размер окна решает, что останется от деталей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4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04</a:t>
            </a:r>
          </a:p>
        </p:txBody>
      </p:sp>
      <p:pic>
        <p:nvPicPr>
          <p:cNvPr id="7" name="Picture 6" descr="bl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10543032" cy="2249424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22960" y="4443984"/>
            <a:ext cx="3355848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4599432"/>
            <a:ext cx="2843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25 → 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5001768"/>
            <a:ext cx="2843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пикселей в окне 5 × 5 и 11 ×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4443984"/>
            <a:ext cx="3355848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4" y="4599432"/>
            <a:ext cx="2843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7.65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5001768"/>
            <a:ext cx="2843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среднее изменение после 5 ×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4443984"/>
            <a:ext cx="3355848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66175" y="4599432"/>
            <a:ext cx="2843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13.60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5001768"/>
            <a:ext cx="2843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среднее изменение после 11 ×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04688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Каждое значение в окне 11 × 11 зависит от 121 пикселя, поэтому локальная структура меняется заметно сильнее.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Медианный фильтр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Импульсный шум удаляется, граница остаётся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4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05</a:t>
            </a:r>
          </a:p>
        </p:txBody>
      </p:sp>
      <p:pic>
        <p:nvPicPr>
          <p:cNvPr id="7" name="Picture 6" descr="me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7360920" cy="2350008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366760" y="1965960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22792" y="2135124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6.34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537460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ошибка зашумлённого кадра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127248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22792" y="3296412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4.44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698748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ошибка после медианы 5 ×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288536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22792" y="4457699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86003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фиксированное зерно генератора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00016"/>
            <a:ext cx="7360920" cy="1261668"/>
          </a:xfrm>
          <a:prstGeom prst="roundRect">
            <a:avLst>
              <a:gd name="adj" fmla="val 10146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4919472"/>
            <a:ext cx="50292" cy="822756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07008" y="4937759"/>
            <a:ext cx="6702552" cy="78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noisy[noise_mask &lt; 0.025] = 0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noisy[noise_mask &gt; 0.975] = 255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median_5 = cv2.medianBlur(noisy, 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Оператор Собеля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Первая производная яркости по двум направлениям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4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06</a:t>
            </a:r>
          </a:p>
        </p:txBody>
      </p:sp>
      <p:pic>
        <p:nvPicPr>
          <p:cNvPr id="7" name="Picture 6" descr="so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10543032" cy="2249424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22960" y="4443984"/>
            <a:ext cx="3355848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4599432"/>
            <a:ext cx="2843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5001768"/>
            <a:ext cx="2843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максимум |Gₓ|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4443984"/>
            <a:ext cx="3355848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4" y="4599432"/>
            <a:ext cx="2843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5001768"/>
            <a:ext cx="2843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максимум |G_y|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4443984"/>
            <a:ext cx="3355848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66175" y="4599432"/>
            <a:ext cx="2843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G = √(Gₓ² + G_y²)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5001768"/>
            <a:ext cx="2843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модуль градиента объединяет направления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04688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Большое значение G означает резкий переход яркости; для показа модуль нормируется в диапазон 0…255.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Повышение резкости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Усиливаем детали размытого изображения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4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07</a:t>
            </a:r>
          </a:p>
        </p:txBody>
      </p:sp>
      <p:pic>
        <p:nvPicPr>
          <p:cNvPr id="7" name="Picture 6" descr="shar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7360920" cy="2350008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366760" y="1965960"/>
            <a:ext cx="2999232" cy="950976"/>
          </a:xfrm>
          <a:prstGeom prst="roundRect">
            <a:avLst>
              <a:gd name="adj" fmla="val 134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22792" y="2057400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3.19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45973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изменение относительно размытого входа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154680"/>
            <a:ext cx="2999232" cy="950976"/>
          </a:xfrm>
          <a:prstGeom prst="roundRect">
            <a:avLst>
              <a:gd name="adj" fmla="val 134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22792" y="3337560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I + α(I − G*I)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73989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эквивалент через unsharp masking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553712"/>
            <a:ext cx="7360920" cy="1261668"/>
          </a:xfrm>
          <a:prstGeom prst="roundRect">
            <a:avLst>
              <a:gd name="adj" fmla="val 10146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60" y="4773168"/>
            <a:ext cx="50292" cy="822756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8" y="4791455"/>
            <a:ext cx="6702552" cy="78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kernel = np.array([[ 0, -1,  0],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                   [-1,  5, -1],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                   [ 0, -1,  0]], dtype=np.float32)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25108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Обе панели показывают одну цепочку обработки: слева вход sharpen, справа результат. Усиление контуров может сопровождаться ореолами.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Гауссов высокочастотный фильтр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H_ВЧ(D) = 1 − exp(−D² / 2σ²): плавный переход без ringing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4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08</a:t>
            </a:r>
          </a:p>
        </p:txBody>
      </p:sp>
      <p:pic>
        <p:nvPicPr>
          <p:cNvPr id="7" name="Picture 6" descr="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138928" cy="278892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pic>
        <p:nvPicPr>
          <p:cNvPr id="8" name="Picture 7" descr="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965960"/>
            <a:ext cx="5138928" cy="1725212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9" name="Rounded Rectangle 8"/>
          <p:cNvSpPr/>
          <p:nvPr/>
        </p:nvSpPr>
        <p:spPr>
          <a:xfrm>
            <a:off x="6227064" y="3928915"/>
            <a:ext cx="5138928" cy="1314450"/>
          </a:xfrm>
          <a:prstGeom prst="roundRect">
            <a:avLst>
              <a:gd name="adj" fmla="val 9739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59" y="4184948"/>
            <a:ext cx="4535424" cy="802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В центре спектра маска ВЧ близка к нулю, поэтому плавный фон подавляется; дальше от центра она стремится к единице, и границы проходят сильнее.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10912"/>
            <a:ext cx="5152644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5166360"/>
            <a:ext cx="46405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σ = 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5568696"/>
            <a:ext cx="46405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ширина гауссовой маски в спектре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3348" y="5010912"/>
            <a:ext cx="5152644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9380" y="5166360"/>
            <a:ext cx="46405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fftshift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9380" y="5568696"/>
            <a:ext cx="46405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нулевая частота переносится в центр спектра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Путь через спектр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БПФ, маска, обратное БПФ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4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09</a:t>
            </a:r>
          </a:p>
        </p:txBody>
      </p:sp>
      <p:pic>
        <p:nvPicPr>
          <p:cNvPr id="7" name="Picture 6" descr="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10543032" cy="2249424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22960" y="4443984"/>
            <a:ext cx="10543032" cy="995375"/>
          </a:xfrm>
          <a:prstGeom prst="roundRect">
            <a:avLst>
              <a:gd name="adj" fmla="val 12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4663440"/>
            <a:ext cx="50292" cy="556463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8" y="4681728"/>
            <a:ext cx="9884663" cy="519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spectrum = np.fft.fftshift(np.fft.fft2(image))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result = np.fft.ifft2(np.fft.ifftshift(spectrum * gaussian_hpf))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Насколько сильно меняется кадр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Среднее абсолютное отклонение от исходного изображения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4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10</a:t>
            </a:r>
          </a:p>
        </p:txBody>
      </p:sp>
      <p:pic>
        <p:nvPicPr>
          <p:cNvPr id="7" name="Picture 6" descr="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6720840" cy="324612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7882127" y="1965960"/>
            <a:ext cx="3483864" cy="3721608"/>
          </a:xfrm>
          <a:prstGeom prst="roundRect">
            <a:avLst>
              <a:gd name="adj" fmla="val 367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19871" y="2203704"/>
            <a:ext cx="50292" cy="3246120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30767" y="2221991"/>
            <a:ext cx="2642616" cy="3209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Усреднение 11 × 11 меняет кадр почти вдвое сильнее, чем 5 × 5. Медианный фильтр, наоборот, приближает зашумлённый кадр к исходному: ошибка падает с 6.34 до 4.44. Для диаграммы значение sharpen показывает отклонение всей цепочки от исходника; на слайде 04 отдельно сравниваются размытый вход и результат sharpen.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Сравнение методов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Сильные стороны и цена каждого фильтра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4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893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1">
                <a:solidFill>
                  <a:srgbClr val="5B6070"/>
                </a:solidFill>
                <a:latin typeface="Helvetica Neue"/>
              </a:defRPr>
            </a:pPr>
            <a:r>
              <a:t>Метод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26136" y="2057400"/>
            <a:ext cx="252602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1">
                <a:solidFill>
                  <a:srgbClr val="5B6070"/>
                </a:solidFill>
                <a:latin typeface="Helvetica Neue"/>
              </a:defRPr>
            </a:pPr>
            <a:r>
              <a:t>Что делает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1894" y="2057400"/>
            <a:ext cx="315861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1">
                <a:solidFill>
                  <a:srgbClr val="5B6070"/>
                </a:solidFill>
                <a:latin typeface="Helvetica Neue"/>
              </a:defRPr>
            </a:pPr>
            <a:r>
              <a:t>Сильная сторона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0234" y="2057400"/>
            <a:ext cx="252602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1">
                <a:solidFill>
                  <a:srgbClr val="5B6070"/>
                </a:solidFill>
                <a:latin typeface="Helvetica Neue"/>
              </a:defRPr>
            </a:pPr>
            <a:r>
              <a:t>Недостаток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331720"/>
            <a:ext cx="10543032" cy="12801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1893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Усреднение 5 ×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6136" y="2423160"/>
            <a:ext cx="252602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среднее по окну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1894" y="2423160"/>
            <a:ext cx="315861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умеренное подавление шума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0234" y="2423160"/>
            <a:ext cx="252602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размывает границы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880360"/>
            <a:ext cx="105430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953512"/>
            <a:ext cx="1893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Усреднение 11 ×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6136" y="2953512"/>
            <a:ext cx="252602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среднее по большому окну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1894" y="2953512"/>
            <a:ext cx="315861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сильное сглаживание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0234" y="2953512"/>
            <a:ext cx="252602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сильное размытие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410712"/>
            <a:ext cx="105430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483863"/>
            <a:ext cx="1893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Медианный 5 ×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6136" y="3483863"/>
            <a:ext cx="252602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медиана окна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1894" y="3483863"/>
            <a:ext cx="315861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эффективен против соли и перца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0234" y="3483863"/>
            <a:ext cx="252602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убирает мелкие детали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941063"/>
            <a:ext cx="105430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014215"/>
            <a:ext cx="1893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Собель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6136" y="4014215"/>
            <a:ext cx="252602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первая производная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1894" y="4014215"/>
            <a:ext cx="315861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выделяет направленные границы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0234" y="4014215"/>
            <a:ext cx="252602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чувствителен к шуму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471416"/>
            <a:ext cx="105430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544568"/>
            <a:ext cx="1893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Sharpen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26136" y="4544568"/>
            <a:ext cx="252602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усиливает локальный контраст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1894" y="4544568"/>
            <a:ext cx="315861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повышает резкость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0234" y="4544568"/>
            <a:ext cx="252602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усиливает шум и ореолы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5001768"/>
            <a:ext cx="105430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5074920"/>
            <a:ext cx="1893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Гауссов ВЧ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26136" y="5074920"/>
            <a:ext cx="252602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подавляет низкие частоты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61894" y="5074920"/>
            <a:ext cx="315861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выделяет детали и контуры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0234" y="5074920"/>
            <a:ext cx="252602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250" b="0">
                <a:solidFill>
                  <a:srgbClr val="15171C"/>
                </a:solidFill>
                <a:latin typeface="Helvetica Neue"/>
              </a:defRPr>
            </a:pPr>
            <a:r>
              <a:t>нужна настройка 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ЗАЩИТА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Часть 1 из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4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Что такое фильтрация и зачем она нужна?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9476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Преобразование изображения по значениям соседних пикселей или по спектру — для подавления шума, сглаживания, повышения резкости и выделения границ.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5280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Чем линейная фильтрация отличается от нелинейной?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3588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Линейная считает взвешенную сумму значений окна, нелинейная применяет другое правило — например, выбирает медиану или минимум.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9392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Какие бывают шумы?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7700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Гауссов даёт небольшие случайные отклонения, импульсный «соль и перец» — чёрные и белые выбросы; бывают равномерный, периодический, мультипликативный.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201168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Как размер окна влияет на результат?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229476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Большое окно сильнее сглаживает шум, но размывает границы, уничтожает мелкие детали и стоит дороже по вычислениям.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335280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Когда пространственная, а когда частотная фильтрация?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363588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Пространственная — для локальных операций и небольших ядер, частотная — для анализа спектра, удаления выбранных диапазонов и больших ядер.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ЗАЩИТА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Часть 2 из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4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Как работает усредняющий фильтр?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9476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Каждый пиксель заменяется средним значением пикселей внутри заданного окна.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5280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Чем гауссов фильтр отличается от усреднения?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3588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Он придаёт больший вес центру окна и меньший дальним пикселям, поэтому сглаживание мягче и структура сохраняется лучше.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9392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Для какого шума эффективен медианный фильтр?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7700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Прежде всего для импульсного шума «соль и перец».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201168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Что делают Собель и Превитт?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229476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Это градиентные операторы первой производной: они оценивают изменения яркости по горизонтали и вертикали и выделяют границы.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335280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Чем Лаплас отличается от Собеля?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363588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Лаплас основан на второй производной и не выделяет направление; Собель даёт направленные компоненты X и 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ЗАЩИТА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Часть 3 из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4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Как реализуется sharpen или unsharp masking?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9476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Ядром с положительным центром и отрицательными соседями либо добавлением к кадру усиленной разницы с его размытой копией.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5280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Как интерпретировать низкие и высокие частоты?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3588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Низкие описывают плавный фон и крупные формы, высокие — резкие переходы, границы, мелкие детали и часть шума.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9392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Как выполняется переход в частотную область?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7700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Дискретным преобразованием Фурье, на практике — его быстрой реализацией np.fft.fft2.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201168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Какие шаги выполняются при частотной фильтрации?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229476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БПФ, перенос нулевой частоты в центр, построение маски, умножение спектра на маску, обратный перенос и обратное БПФ.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335280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Чем идеальный НЧ-фильтр отличается от гауссова?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363588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У идеального резкая граница: внутри радиуса частоты проходят полностью, снаружи отбрасываются. Гауссов уменьшает пропускание плавно.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ЗАЩИТА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Часть 4 из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4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Какие артефакты даёт идеальный НЧ-фильтр?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9476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Ringing — концентрические колебательные ореолы около резких границ.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5280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Как работает ВЧ-фильтр?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3588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Он подавляет область низких частот и пропускает высокие, поэтому выделяет контуры, текстуры и резкие детали.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9392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Что такое полосовой фильтр?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7700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Фильтр, пропускающий только диапазон частот между нижней и верхней границей: им выделяют текстуры и структуры заданного масштаба.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201168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Какие преимущества даёт частотная фильтрация?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229476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Она позволяет явно управлять диапазонами частот и эффективно работать с большими ядрами через БПФ.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335280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Почему БПФ эффективно при больших ядрах?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3635883"/>
            <a:ext cx="5042916" cy="1030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Прямая свёртка с большим ядром дорога, а в спектре она превращается в поэлементное умножение.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Что выполнено в ноутбуке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4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8" y="2011680"/>
            <a:ext cx="1015898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Усреднение 5 × 5 и 11 × 11 изменило кадр на 7.65 и 13.60 уровня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5117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8" y="2459736"/>
            <a:ext cx="1015898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Медианный фильтр снизил ошибку зашумлённого кадра с 6.34 до 4.44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992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2907792"/>
            <a:ext cx="1015898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Собель выделил границы: максимальный отклик 1016 по обоим осям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472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07008" y="3355848"/>
            <a:ext cx="1015898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Sharpen изменил размытый вход на 3.19 уровня яркости в среднем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953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8" y="3803904"/>
            <a:ext cx="1015898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Гауссов ВЧ-фильтр с σ = 45 подавил плавный фон и оставил контуры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43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07008" y="4251960"/>
            <a:ext cx="1015898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Показан весь путь через спектр: БПФ, маска, обратное БПФ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  <a:defRPr sz="1600" b="1">
                <a:solidFill>
                  <a:srgbClr val="0B57D0"/>
                </a:solidFill>
                <a:latin typeface="Helvetica Neue"/>
              </a:defRPr>
            </a:pPr>
            <a:r>
              <a:t>Выбор фильтра — это всегда компромисс: чем сильнее подавляется шум, тем больше теряется мелких деталей и резкости границ.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1469</Words>
  <Application>Microsoft Macintosh PowerPoint</Application>
  <PresentationFormat>Widescreen</PresentationFormat>
  <Paragraphs>222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Helvetica Neue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2026-10-22T11:00:00Z</dcterms:modified>
  <cp:category/>
</cp:coreProperties>
</file>