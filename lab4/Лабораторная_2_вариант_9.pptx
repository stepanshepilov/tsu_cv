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0E7490"/>
                </a:solidFill>
                <a:latin typeface="Aptos"/>
              </a:defRPr>
            </a:pPr>
            <a:r>
              <a:t>ЛАБОРАТОРНАЯ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25880"/>
            <a:ext cx="6766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3400" b="1">
                <a:solidFill>
                  <a:srgbClr val="162536"/>
                </a:solidFill>
                <a:latin typeface="Aptos"/>
              </a:defRPr>
            </a:pPr>
            <a:r>
              <a:t>Гистограммы, профили</a:t>
            </a:r>
          </a:p>
          <a:p>
            <a:pPr algn="l">
              <a:spcAft>
                <a:spcPts val="700"/>
              </a:spcAft>
              <a:defRPr sz="3400" b="1">
                <a:solidFill>
                  <a:srgbClr val="162536"/>
                </a:solidFill>
                <a:latin typeface="Aptos"/>
              </a:defRPr>
            </a:pPr>
            <a:r>
              <a:t>и проекции изображения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154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54636C"/>
                </a:solidFill>
                <a:latin typeface="Aptos"/>
              </a:defRPr>
            </a:pPr>
            <a:r>
              <a:t>Компьютерное зрение · вариант 9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548640"/>
            <a:ext cx="406908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51663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162536"/>
                </a:solidFill>
                <a:latin typeface="Aptos"/>
              </a:defRPr>
            </a:pPr>
            <a:r>
              <a:t>Практика: измеряем яркость, границы и положение объекта через одномерные сигналы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4636C"/>
                </a:solidFill>
                <a:latin typeface="Aptos"/>
              </a:defRPr>
            </a:pPr>
            <a:r>
              <a:t>Лабораторная 2 · вариант 9     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900" b="1">
                <a:solidFill>
                  <a:srgbClr val="162536"/>
                </a:solidFill>
                <a:latin typeface="Aptos"/>
              </a:defRPr>
            </a:pPr>
            <a:r>
              <a:t>Задание варианта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54636C"/>
                </a:solidFill>
                <a:latin typeface="Aptos"/>
              </a:defRPr>
            </a:pPr>
            <a:r>
              <a:t>Пять операций над одним изображением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914400" cy="73152"/>
          </a:xfrm>
          <a:prstGeom prst="rect">
            <a:avLst/>
          </a:prstGeom>
          <a:solidFill>
            <a:srgbClr val="E45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4636C"/>
                </a:solidFill>
                <a:latin typeface="Aptos"/>
              </a:defRPr>
            </a:pPr>
            <a:r>
              <a:t>Лабораторная 2 · вариант 9                                    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200" b="0">
                <a:solidFill>
                  <a:srgbClr val="162536"/>
                </a:solidFill>
                <a:latin typeface="Aptos"/>
              </a:defRPr>
            </a:pPr>
            <a:r>
              <a:t>01  Гистограмма серого изображения и её пик</a:t>
            </a:r>
          </a:p>
          <a:p>
            <a:pPr algn="l">
              <a:spcAft>
                <a:spcPts val="700"/>
              </a:spcAft>
              <a:defRPr sz="2200" b="0">
                <a:solidFill>
                  <a:srgbClr val="162536"/>
                </a:solidFill>
                <a:latin typeface="Aptos"/>
              </a:defRPr>
            </a:pPr>
            <a:r>
              <a:t>02  Профили после фильтра Лапласа</a:t>
            </a:r>
          </a:p>
          <a:p>
            <a:pPr algn="l">
              <a:spcAft>
                <a:spcPts val="700"/>
              </a:spcAft>
              <a:defRPr sz="2200" b="0">
                <a:solidFill>
                  <a:srgbClr val="162536"/>
                </a:solidFill>
                <a:latin typeface="Aptos"/>
              </a:defRPr>
            </a:pPr>
            <a:r>
              <a:t>03  Горизонтальная проекция и строка максимума</a:t>
            </a:r>
          </a:p>
          <a:p>
            <a:pPr algn="l">
              <a:spcAft>
                <a:spcPts val="700"/>
              </a:spcAft>
              <a:defRPr sz="2200" b="0">
                <a:solidFill>
                  <a:srgbClr val="162536"/>
                </a:solidFill>
                <a:latin typeface="Aptos"/>
              </a:defRPr>
            </a:pPr>
            <a:r>
              <a:t>04  Вертикальная проекция и столбец максимума</a:t>
            </a:r>
          </a:p>
          <a:p>
            <a:pPr algn="l">
              <a:spcAft>
                <a:spcPts val="700"/>
              </a:spcAft>
              <a:defRPr sz="2200" b="0">
                <a:solidFill>
                  <a:srgbClr val="162536"/>
                </a:solidFill>
                <a:latin typeface="Aptos"/>
              </a:defRPr>
            </a:pPr>
            <a:r>
              <a:t>05  Повтор профилей и проекций после порога Отсу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01168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0E7490"/>
                </a:solidFill>
                <a:latin typeface="Aptos"/>
              </a:defRPr>
            </a:pPr>
            <a:r>
              <a:t>Вход: image.png</a:t>
            </a:r>
          </a:p>
          <a:p>
            <a:pPr algn="l">
              <a:spcAft>
                <a:spcPts val="700"/>
              </a:spcAft>
              <a:defRPr sz="1700" b="1">
                <a:solidFill>
                  <a:srgbClr val="0E7490"/>
                </a:solidFill>
                <a:latin typeface="Aptos"/>
              </a:defRPr>
            </a:pPr>
            <a:r>
              <a:t>Размер: 1000 × 563</a:t>
            </a:r>
          </a:p>
          <a:p>
            <a:pPr algn="l">
              <a:spcAft>
                <a:spcPts val="700"/>
              </a:spcAft>
              <a:defRPr sz="1700" b="1">
                <a:solidFill>
                  <a:srgbClr val="0E7490"/>
                </a:solidFill>
                <a:latin typeface="Aptos"/>
              </a:defRPr>
            </a:pPr>
            <a:r>
              <a:t>Выход: графики + численные координаты экстремумов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900" b="1">
                <a:solidFill>
                  <a:srgbClr val="162536"/>
                </a:solidFill>
                <a:latin typeface="Aptos"/>
              </a:defRPr>
            </a:pPr>
            <a:r>
              <a:t>Теория: три одномерных взгляда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54636C"/>
                </a:solidFill>
                <a:latin typeface="Aptos"/>
              </a:defRPr>
            </a:pPr>
            <a:r>
              <a:t>Сворачиваем двумерную матрицу яркости в измеримые сигналы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914400" cy="73152"/>
          </a:xfrm>
          <a:prstGeom prst="rect">
            <a:avLst/>
          </a:prstGeom>
          <a:solidFill>
            <a:srgbClr val="E45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4636C"/>
                </a:solidFill>
                <a:latin typeface="Aptos"/>
              </a:defRPr>
            </a:pPr>
            <a:r>
              <a:t>Лабораторная 2 · вариант 9                                    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100" b="0">
                <a:solidFill>
                  <a:srgbClr val="162536"/>
                </a:solidFill>
                <a:latin typeface="Aptos"/>
              </a:defRPr>
            </a:pPr>
            <a:r>
              <a:t>Гистограмма</a:t>
            </a:r>
          </a:p>
          <a:p>
            <a:pPr algn="l">
              <a:spcAft>
                <a:spcPts val="700"/>
              </a:spcAft>
              <a:defRPr sz="2100" b="0">
                <a:solidFill>
                  <a:srgbClr val="162536"/>
                </a:solidFill>
                <a:latin typeface="Aptos"/>
              </a:defRPr>
            </a:pPr>
            <a:r>
              <a:t>H(k) = число пикселей с яркостью k</a:t>
            </a:r>
          </a:p>
          <a:p>
            <a:pPr algn="l">
              <a:spcAft>
                <a:spcPts val="700"/>
              </a:spcAft>
              <a:defRPr sz="2100" b="0">
                <a:solidFill>
                  <a:srgbClr val="162536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2100" b="0">
                <a:solidFill>
                  <a:srgbClr val="162536"/>
                </a:solidFill>
                <a:latin typeface="Aptos"/>
              </a:defRPr>
            </a:pPr>
            <a:r>
              <a:t>Профиль</a:t>
            </a:r>
          </a:p>
          <a:p>
            <a:pPr algn="l">
              <a:spcAft>
                <a:spcPts val="700"/>
              </a:spcAft>
              <a:defRPr sz="2100" b="0">
                <a:solidFill>
                  <a:srgbClr val="162536"/>
                </a:solidFill>
                <a:latin typeface="Aptos"/>
              </a:defRPr>
            </a:pPr>
            <a:r>
              <a:t>P(y) = (1/N) Σₓ I(x, y)</a:t>
            </a:r>
          </a:p>
          <a:p>
            <a:pPr algn="l">
              <a:spcAft>
                <a:spcPts val="700"/>
              </a:spcAft>
              <a:defRPr sz="2100" b="0">
                <a:solidFill>
                  <a:srgbClr val="162536"/>
                </a:solidFill>
                <a:latin typeface="Aptos"/>
              </a:defRPr>
            </a:pPr>
            <a:r>
              <a:t>P(x) = (1/M) Σᵧ I(x, y)</a:t>
            </a:r>
          </a:p>
          <a:p>
            <a:pPr algn="l">
              <a:spcAft>
                <a:spcPts val="700"/>
              </a:spcAft>
              <a:defRPr sz="2100" b="0">
                <a:solidFill>
                  <a:srgbClr val="162536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2100" b="0">
                <a:solidFill>
                  <a:srgbClr val="162536"/>
                </a:solidFill>
                <a:latin typeface="Aptos"/>
              </a:defRPr>
            </a:pPr>
            <a:r>
              <a:t>Проекция</a:t>
            </a:r>
          </a:p>
          <a:p>
            <a:pPr algn="l">
              <a:spcAft>
                <a:spcPts val="700"/>
              </a:spcAft>
              <a:defRPr sz="2100" b="0">
                <a:solidFill>
                  <a:srgbClr val="162536"/>
                </a:solidFill>
                <a:latin typeface="Aptos"/>
              </a:defRPr>
            </a:pPr>
            <a:r>
              <a:t>HP(y) = Σₓ I(x, y)</a:t>
            </a:r>
          </a:p>
          <a:p>
            <a:pPr algn="l">
              <a:spcAft>
                <a:spcPts val="700"/>
              </a:spcAft>
              <a:defRPr sz="2100" b="0">
                <a:solidFill>
                  <a:srgbClr val="162536"/>
                </a:solidFill>
                <a:latin typeface="Aptos"/>
              </a:defRPr>
            </a:pPr>
            <a:r>
              <a:t>VP(x) = Σᵧ I(x, 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874519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0">
                <a:solidFill>
                  <a:srgbClr val="54636C"/>
                </a:solidFill>
                <a:latin typeface="Aptos"/>
              </a:defRPr>
            </a:pPr>
            <a:r>
              <a:t>Гистограмма отвечает: «какие тона преобладают?»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54636C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2000" b="0">
                <a:solidFill>
                  <a:srgbClr val="54636C"/>
                </a:solidFill>
                <a:latin typeface="Aptos"/>
              </a:defRPr>
            </a:pPr>
            <a:r>
              <a:t>Профиль отвечает: «какова средняя яркость в каждой строке или колонке?»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54636C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2000" b="0">
                <a:solidFill>
                  <a:srgbClr val="54636C"/>
                </a:solidFill>
                <a:latin typeface="Aptos"/>
              </a:defRPr>
            </a:pPr>
            <a:r>
              <a:t>Проекция отвечает: «где накоплено больше суммарной яркости?»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900" b="1">
                <a:solidFill>
                  <a:srgbClr val="162536"/>
                </a:solidFill>
                <a:latin typeface="Aptos"/>
              </a:defRPr>
            </a:pPr>
            <a:r>
              <a:t>Исходная гистограмма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54636C"/>
                </a:solidFill>
                <a:latin typeface="Aptos"/>
              </a:defRPr>
            </a:pPr>
            <a:r>
              <a:t>Пик показывает доминирующий уровень яркости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914400" cy="73152"/>
          </a:xfrm>
          <a:prstGeom prst="rect">
            <a:avLst/>
          </a:prstGeom>
          <a:solidFill>
            <a:srgbClr val="E45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4636C"/>
                </a:solidFill>
                <a:latin typeface="Aptos"/>
              </a:defRPr>
            </a:pPr>
            <a:r>
              <a:t>Лабораторная 2 · вариант 9                                      04</a:t>
            </a:r>
          </a:p>
        </p:txBody>
      </p:sp>
      <p:pic>
        <p:nvPicPr>
          <p:cNvPr id="6" name="Picture 5" descr="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7223760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0" y="22860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400" b="1">
                <a:solidFill>
                  <a:srgbClr val="E45C4F"/>
                </a:solidFill>
                <a:latin typeface="Aptos"/>
              </a:defRPr>
            </a:pPr>
            <a:r>
              <a:t>Пик: интенсивность 225</a:t>
            </a:r>
          </a:p>
          <a:p>
            <a:pPr algn="l">
              <a:spcAft>
                <a:spcPts val="700"/>
              </a:spcAft>
              <a:defRPr sz="2400" b="1">
                <a:solidFill>
                  <a:srgbClr val="E45C4F"/>
                </a:solidFill>
                <a:latin typeface="Aptos"/>
              </a:defRPr>
            </a:pPr>
            <a:r>
              <a:t>Количество: 40 765 пикселей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3977639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54636C"/>
                </a:solidFill>
                <a:latin typeface="Aptos"/>
              </a:defRPr>
            </a:pPr>
            <a:r>
              <a:t>Гистограмма не сообщает координаты пикселей. Она описывает распределение яркостей по всему изображению.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900" b="1">
                <a:solidFill>
                  <a:srgbClr val="162536"/>
                </a:solidFill>
                <a:latin typeface="Aptos"/>
              </a:defRPr>
            </a:pPr>
            <a:r>
              <a:t>Лаплас: где яркость меняется резко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54636C"/>
                </a:solidFill>
                <a:latin typeface="Aptos"/>
              </a:defRPr>
            </a:pPr>
            <a:r>
              <a:t>Вторая производная подчёркивает границы и мелкие детали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914400" cy="73152"/>
          </a:xfrm>
          <a:prstGeom prst="rect">
            <a:avLst/>
          </a:prstGeom>
          <a:solidFill>
            <a:srgbClr val="E45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4636C"/>
                </a:solidFill>
                <a:latin typeface="Aptos"/>
              </a:defRPr>
            </a:pPr>
            <a:r>
              <a:t>Лабораторная 2 · вариант 9                                     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162536"/>
                </a:solidFill>
                <a:latin typeface="Aptos"/>
              </a:defRPr>
            </a:pPr>
            <a:r>
              <a:t>laplacian_signed = cv2.Laplacian(image, cv2.CV_64F)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62536"/>
                </a:solidFill>
                <a:latin typeface="Aptos"/>
              </a:defRPr>
            </a:pPr>
            <a:r>
              <a:t>laplacian = np.abs(laplacian_signed)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62536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800" b="0">
                <a:solidFill>
                  <a:srgbClr val="162536"/>
                </a:solidFill>
                <a:latin typeface="Aptos"/>
              </a:defRPr>
            </a:pPr>
            <a:r>
              <a:t>profile_y = laplacian.mean(axis=1)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62536"/>
                </a:solidFill>
                <a:latin typeface="Aptos"/>
              </a:defRPr>
            </a:pPr>
            <a:r>
              <a:t>profile_x = laplacian.mean(axis=0)</a:t>
            </a:r>
          </a:p>
        </p:txBody>
      </p:sp>
      <p:pic>
        <p:nvPicPr>
          <p:cNvPr id="7" name="Picture 6" descr="laplac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691640"/>
            <a:ext cx="5760720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89204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0E7490"/>
                </a:solidFill>
                <a:latin typeface="Aptos"/>
              </a:defRPr>
            </a:pPr>
            <a:r>
              <a:t>Максимум по строкам: y = 562</a:t>
            </a:r>
          </a:p>
          <a:p>
            <a:pPr algn="l">
              <a:spcAft>
                <a:spcPts val="700"/>
              </a:spcAft>
              <a:defRPr sz="1900" b="1">
                <a:solidFill>
                  <a:srgbClr val="0E7490"/>
                </a:solidFill>
                <a:latin typeface="Aptos"/>
              </a:defRPr>
            </a:pPr>
            <a:r>
              <a:t>Максимум по столбцам: x = 535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900" b="1">
                <a:solidFill>
                  <a:srgbClr val="162536"/>
                </a:solidFill>
                <a:latin typeface="Aptos"/>
              </a:defRPr>
            </a:pPr>
            <a:r>
              <a:t>Проекции исходного изображения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54636C"/>
                </a:solidFill>
                <a:latin typeface="Aptos"/>
              </a:defRPr>
            </a:pPr>
            <a:r>
              <a:t>Сумма яркостей вдоль каждой координаты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914400" cy="73152"/>
          </a:xfrm>
          <a:prstGeom prst="rect">
            <a:avLst/>
          </a:prstGeom>
          <a:solidFill>
            <a:srgbClr val="E45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4636C"/>
                </a:solidFill>
                <a:latin typeface="Aptos"/>
              </a:defRPr>
            </a:pPr>
            <a:r>
              <a:t>Лабораторная 2 · вариант 9                                      06</a:t>
            </a:r>
          </a:p>
        </p:txBody>
      </p:sp>
      <p:pic>
        <p:nvPicPr>
          <p:cNvPr id="6" name="Picture 5" descr="proj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45920"/>
            <a:ext cx="731520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0" y="1874519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0E7490"/>
                </a:solidFill>
                <a:latin typeface="Aptos"/>
              </a:defRPr>
            </a:pPr>
            <a:r>
              <a:t>Горизонтальная</a:t>
            </a:r>
          </a:p>
          <a:p>
            <a:pPr algn="l">
              <a:spcAft>
                <a:spcPts val="700"/>
              </a:spcAft>
              <a:defRPr sz="2100" b="1">
                <a:solidFill>
                  <a:srgbClr val="0E7490"/>
                </a:solidFill>
                <a:latin typeface="Aptos"/>
              </a:defRPr>
            </a:pPr>
            <a:r>
              <a:t>строка y = 86</a:t>
            </a:r>
          </a:p>
          <a:p>
            <a:pPr algn="l">
              <a:spcAft>
                <a:spcPts val="700"/>
              </a:spcAft>
              <a:defRPr sz="2100" b="1">
                <a:solidFill>
                  <a:srgbClr val="0E7490"/>
                </a:solidFill>
                <a:latin typeface="Aptos"/>
              </a:defRPr>
            </a:pPr>
            <a:r>
              <a:t>сумма = 223 754</a:t>
            </a:r>
          </a:p>
          <a:p>
            <a:pPr algn="l">
              <a:spcAft>
                <a:spcPts val="700"/>
              </a:spcAft>
              <a:defRPr sz="2100" b="1">
                <a:solidFill>
                  <a:srgbClr val="0E7490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2100" b="1">
                <a:solidFill>
                  <a:srgbClr val="0E7490"/>
                </a:solidFill>
                <a:latin typeface="Aptos"/>
              </a:defRPr>
            </a:pPr>
            <a:r>
              <a:t>Вертикальная</a:t>
            </a:r>
          </a:p>
          <a:p>
            <a:pPr algn="l">
              <a:spcAft>
                <a:spcPts val="700"/>
              </a:spcAft>
              <a:defRPr sz="2100" b="1">
                <a:solidFill>
                  <a:srgbClr val="0E7490"/>
                </a:solidFill>
                <a:latin typeface="Aptos"/>
              </a:defRPr>
            </a:pPr>
            <a:r>
              <a:t>столбец x = 372</a:t>
            </a:r>
          </a:p>
          <a:p>
            <a:pPr algn="l">
              <a:spcAft>
                <a:spcPts val="700"/>
              </a:spcAft>
              <a:defRPr sz="2100" b="1">
                <a:solidFill>
                  <a:srgbClr val="0E7490"/>
                </a:solidFill>
                <a:latin typeface="Aptos"/>
              </a:defRPr>
            </a:pPr>
            <a:r>
              <a:t>сумма = 129 309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900" b="1">
                <a:solidFill>
                  <a:srgbClr val="162536"/>
                </a:solidFill>
                <a:latin typeface="Aptos"/>
              </a:defRPr>
            </a:pPr>
            <a:r>
              <a:t>Отсу: превращаем яркость в классы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54636C"/>
                </a:solidFill>
                <a:latin typeface="Aptos"/>
              </a:defRPr>
            </a:pPr>
            <a:r>
              <a:t>Автоматический порог через максимум межклассовой дисперсии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914400" cy="73152"/>
          </a:xfrm>
          <a:prstGeom prst="rect">
            <a:avLst/>
          </a:prstGeom>
          <a:solidFill>
            <a:srgbClr val="E45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4636C"/>
                </a:solidFill>
                <a:latin typeface="Aptos"/>
              </a:defRPr>
            </a:pPr>
            <a:r>
              <a:t>Лабораторная 2 · вариант 9                                      07</a:t>
            </a:r>
          </a:p>
        </p:txBody>
      </p:sp>
      <p:pic>
        <p:nvPicPr>
          <p:cNvPr id="6" name="Picture 5" descr="bi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37360"/>
            <a:ext cx="612648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1828800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162536"/>
                </a:solidFill>
                <a:latin typeface="Aptos"/>
              </a:defRPr>
            </a:pPr>
            <a:r>
              <a:t>otsu_threshold, binary = cv2.threshold(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162536"/>
                </a:solidFill>
                <a:latin typeface="Aptos"/>
              </a:defRPr>
            </a:pPr>
            <a:r>
              <a:t>    image, 0, 255,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162536"/>
                </a:solidFill>
                <a:latin typeface="Aptos"/>
              </a:defRPr>
            </a:pPr>
            <a:r>
              <a:t>    cv2.THRESH_BINARY + cv2.THRESH_OTSU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162536"/>
                </a:solidFill>
                <a:latin typeface="Aptos"/>
              </a:defRPr>
            </a:pPr>
            <a: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79476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E45C4F"/>
                </a:solidFill>
                <a:latin typeface="Aptos"/>
              </a:defRPr>
            </a:pPr>
            <a:r>
              <a:t>Порог: 141</a:t>
            </a:r>
          </a:p>
          <a:p>
            <a:pPr algn="l">
              <a:spcAft>
                <a:spcPts val="700"/>
              </a:spcAft>
              <a:defRPr sz="2000" b="1">
                <a:solidFill>
                  <a:srgbClr val="E45C4F"/>
                </a:solidFill>
                <a:latin typeface="Aptos"/>
              </a:defRPr>
            </a:pPr>
            <a:r>
              <a:t>Белые пиксели: 85.04%</a:t>
            </a:r>
          </a:p>
          <a:p>
            <a:pPr algn="l">
              <a:spcAft>
                <a:spcPts val="700"/>
              </a:spcAft>
              <a:defRPr sz="2000" b="1">
                <a:solidFill>
                  <a:srgbClr val="E45C4F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2000" b="1">
                <a:solidFill>
                  <a:srgbClr val="E45C4F"/>
                </a:solidFill>
                <a:latin typeface="Aptos"/>
              </a:defRPr>
            </a:pPr>
            <a:r>
              <a:t>После порога проекции можно читать как число белых пикселей в строке или столбце.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900" b="1">
                <a:solidFill>
                  <a:srgbClr val="162536"/>
                </a:solidFill>
                <a:latin typeface="Aptos"/>
              </a:defRPr>
            </a:pPr>
            <a:r>
              <a:t>Профили и проекции после Отсу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54636C"/>
                </a:solidFill>
                <a:latin typeface="Aptos"/>
              </a:defRPr>
            </a:pPr>
            <a:r>
              <a:t>Бинаризация делает геометрию объекта более заметной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914400" cy="73152"/>
          </a:xfrm>
          <a:prstGeom prst="rect">
            <a:avLst/>
          </a:prstGeom>
          <a:solidFill>
            <a:srgbClr val="E45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4636C"/>
                </a:solidFill>
                <a:latin typeface="Aptos"/>
              </a:defRPr>
            </a:pPr>
            <a:r>
              <a:t>Лабораторная 2 · вариант 9                                      08</a:t>
            </a:r>
          </a:p>
        </p:txBody>
      </p:sp>
      <p:pic>
        <p:nvPicPr>
          <p:cNvPr id="6" name="Picture 5" descr="binary_proj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740664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92024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0E7490"/>
                </a:solidFill>
                <a:latin typeface="Aptos"/>
              </a:defRPr>
            </a:pPr>
            <a:r>
              <a:t>Для бинарного изображения:</a:t>
            </a:r>
          </a:p>
          <a:p>
            <a:pPr algn="l">
              <a:spcAft>
                <a:spcPts val="700"/>
              </a:spcAft>
              <a:defRPr sz="2000" b="1">
                <a:solidFill>
                  <a:srgbClr val="0E7490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2000" b="1">
                <a:solidFill>
                  <a:srgbClr val="0E7490"/>
                </a:solidFill>
                <a:latin typeface="Aptos"/>
              </a:defRPr>
            </a:pPr>
            <a:r>
              <a:t>профиль = средняя доля белого</a:t>
            </a:r>
          </a:p>
          <a:p>
            <a:pPr algn="l">
              <a:spcAft>
                <a:spcPts val="700"/>
              </a:spcAft>
              <a:defRPr sz="2000" b="1">
                <a:solidFill>
                  <a:srgbClr val="0E7490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2000" b="1">
                <a:solidFill>
                  <a:srgbClr val="0E7490"/>
                </a:solidFill>
                <a:latin typeface="Aptos"/>
              </a:defRPr>
            </a:pPr>
            <a:r>
              <a:t>проекция / 255 = количество белых пикселей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900" b="1">
                <a:solidFill>
                  <a:srgbClr val="162536"/>
                </a:solidFill>
                <a:latin typeface="Aptos"/>
              </a:defRPr>
            </a:pPr>
            <a:r>
              <a:t>Код лабораторной: общий конвейер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54636C"/>
                </a:solidFill>
                <a:latin typeface="Aptos"/>
              </a:defRPr>
            </a:pPr>
            <a:r>
              <a:t>Одна и та же последовательность повторяется для исходного и бинарного изображения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914400" cy="73152"/>
          </a:xfrm>
          <a:prstGeom prst="rect">
            <a:avLst/>
          </a:prstGeom>
          <a:solidFill>
            <a:srgbClr val="E45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4636C"/>
                </a:solidFill>
                <a:latin typeface="Aptos"/>
              </a:defRPr>
            </a:pPr>
            <a:r>
              <a:t>Лабораторная 2 · вариант 9                                     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162536"/>
                </a:solidFill>
                <a:latin typeface="Aptos"/>
              </a:defRPr>
            </a:pPr>
            <a:r>
              <a:t>image = cv2.imread('image.png', cv2.IMREAD_GRAYSCALE)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62536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800" b="0">
                <a:solidFill>
                  <a:srgbClr val="162536"/>
                </a:solidFill>
                <a:latin typeface="Aptos"/>
              </a:defRPr>
            </a:pPr>
            <a:r>
              <a:t>hist = cv2.calcHist([image], [0], None, [256], [0, 256])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62536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800" b="0">
                <a:solidFill>
                  <a:srgbClr val="162536"/>
                </a:solidFill>
                <a:latin typeface="Aptos"/>
              </a:defRPr>
            </a:pPr>
            <a:r>
              <a:t>horizontal_profile = image.mean(axis=1)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62536"/>
                </a:solidFill>
                <a:latin typeface="Aptos"/>
              </a:defRPr>
            </a:pPr>
            <a:r>
              <a:t>vertical_profile = image.mean(axis=0)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62536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800" b="0">
                <a:solidFill>
                  <a:srgbClr val="162536"/>
                </a:solidFill>
                <a:latin typeface="Aptos"/>
              </a:defRPr>
            </a:pPr>
            <a:r>
              <a:t>horizontal_projection = image.sum(axis=1)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62536"/>
                </a:solidFill>
                <a:latin typeface="Aptos"/>
              </a:defRPr>
            </a:pPr>
            <a:r>
              <a:t>vertical_projection = image.sum(axis=0)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62536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800" b="0">
                <a:solidFill>
                  <a:srgbClr val="162536"/>
                </a:solidFill>
                <a:latin typeface="Aptos"/>
              </a:defRPr>
            </a:pPr>
            <a:r>
              <a:t>threshold, binary = cv2.threshold(image, 0, 255,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162536"/>
                </a:solidFill>
                <a:latin typeface="Aptos"/>
              </a:defRPr>
            </a:pPr>
            <a:r>
              <a:t>                                  cv2.THRESH_BINARY + cv2.THRESH_OTSU)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900" b="1">
                <a:solidFill>
                  <a:srgbClr val="162536"/>
                </a:solidFill>
                <a:latin typeface="Aptos"/>
              </a:defRPr>
            </a:pPr>
            <a:r>
              <a:t>Как читать 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54636C"/>
                </a:solidFill>
                <a:latin typeface="Aptos"/>
              </a:defRPr>
            </a:pPr>
            <a:r>
              <a:t>Разные операции отвечают на разные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914400" cy="73152"/>
          </a:xfrm>
          <a:prstGeom prst="rect">
            <a:avLst/>
          </a:prstGeom>
          <a:solidFill>
            <a:srgbClr val="E45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4636C"/>
                </a:solidFill>
                <a:latin typeface="Aptos"/>
              </a:defRPr>
            </a:pPr>
            <a:r>
              <a:t>Лабораторная 2 · вариант 9                            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200" b="0">
                <a:solidFill>
                  <a:srgbClr val="162536"/>
                </a:solidFill>
                <a:latin typeface="Aptos"/>
              </a:defRPr>
            </a:pPr>
            <a:r>
              <a:t>Гистограмма</a:t>
            </a:r>
          </a:p>
          <a:p>
            <a:pPr algn="l">
              <a:spcAft>
                <a:spcPts val="700"/>
              </a:spcAft>
              <a:defRPr sz="2200" b="0">
                <a:solidFill>
                  <a:srgbClr val="162536"/>
                </a:solidFill>
                <a:latin typeface="Aptos"/>
              </a:defRPr>
            </a:pPr>
            <a:r>
              <a:t>225 — самый частый тон исходного изображения.</a:t>
            </a:r>
          </a:p>
          <a:p>
            <a:pPr algn="l">
              <a:spcAft>
                <a:spcPts val="700"/>
              </a:spcAft>
              <a:defRPr sz="2200" b="0">
                <a:solidFill>
                  <a:srgbClr val="162536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2200" b="0">
                <a:solidFill>
                  <a:srgbClr val="162536"/>
                </a:solidFill>
                <a:latin typeface="Aptos"/>
              </a:defRPr>
            </a:pPr>
            <a:r>
              <a:t>Лаплас</a:t>
            </a:r>
          </a:p>
          <a:p>
            <a:pPr algn="l">
              <a:spcAft>
                <a:spcPts val="700"/>
              </a:spcAft>
              <a:defRPr sz="2200" b="0">
                <a:solidFill>
                  <a:srgbClr val="162536"/>
                </a:solidFill>
                <a:latin typeface="Aptos"/>
              </a:defRPr>
            </a:pPr>
            <a:r>
              <a:t>Высокий профиль — сильная локальная граница или деталь.</a:t>
            </a:r>
          </a:p>
          <a:p>
            <a:pPr algn="l">
              <a:spcAft>
                <a:spcPts val="700"/>
              </a:spcAft>
              <a:defRPr sz="2200" b="0">
                <a:solidFill>
                  <a:srgbClr val="162536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2200" b="0">
                <a:solidFill>
                  <a:srgbClr val="162536"/>
                </a:solidFill>
                <a:latin typeface="Aptos"/>
              </a:defRPr>
            </a:pPr>
            <a:r>
              <a:t>Проекция</a:t>
            </a:r>
          </a:p>
          <a:p>
            <a:pPr algn="l">
              <a:spcAft>
                <a:spcPts val="700"/>
              </a:spcAft>
              <a:defRPr sz="2200" b="0">
                <a:solidFill>
                  <a:srgbClr val="162536"/>
                </a:solidFill>
                <a:latin typeface="Aptos"/>
              </a:defRPr>
            </a:pPr>
            <a:r>
              <a:t>Пик показывает координату с наибольшей суммарной яркостью.</a:t>
            </a:r>
          </a:p>
          <a:p>
            <a:pPr algn="l">
              <a:spcAft>
                <a:spcPts val="700"/>
              </a:spcAft>
              <a:defRPr sz="2200" b="0">
                <a:solidFill>
                  <a:srgbClr val="162536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2200" b="0">
                <a:solidFill>
                  <a:srgbClr val="162536"/>
                </a:solidFill>
                <a:latin typeface="Aptos"/>
              </a:defRPr>
            </a:pPr>
            <a:r>
              <a:t>Отсу</a:t>
            </a:r>
          </a:p>
          <a:p>
            <a:pPr algn="l">
              <a:spcAft>
                <a:spcPts val="700"/>
              </a:spcAft>
              <a:defRPr sz="2200" b="0">
                <a:solidFill>
                  <a:srgbClr val="162536"/>
                </a:solidFill>
                <a:latin typeface="Aptos"/>
              </a:defRPr>
            </a:pPr>
            <a:r>
              <a:t>Порог 141 разделяет изображение на два класса, после чего пики проекций отражают геометрию белой области.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900" b="1">
                <a:solidFill>
                  <a:srgbClr val="162536"/>
                </a:solidFill>
                <a:latin typeface="Aptos"/>
              </a:defRPr>
            </a:pPr>
            <a:r>
              <a:t>Контрольные вопросы 1–5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54636C"/>
                </a:solidFill>
                <a:latin typeface="Aptos"/>
              </a:defRPr>
            </a:pPr>
            <a:r>
              <a:t>Короткие ответы по базовым определениям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914400" cy="73152"/>
          </a:xfrm>
          <a:prstGeom prst="rect">
            <a:avLst/>
          </a:prstGeom>
          <a:solidFill>
            <a:srgbClr val="E45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4636C"/>
                </a:solidFill>
                <a:latin typeface="Aptos"/>
              </a:defRPr>
            </a:pPr>
            <a:r>
              <a:t>Лабораторная 2 · вариант 9                            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162536"/>
                </a:solidFill>
                <a:latin typeface="Aptos"/>
              </a:defRPr>
            </a:pPr>
            <a:r>
              <a:t>1. Гистограмма — распределение числа пикселей по яркостям; нужна для анализа тонов и контраста.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162536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900" b="0">
                <a:solidFill>
                  <a:srgbClr val="162536"/>
                </a:solidFill>
                <a:latin typeface="Aptos"/>
              </a:defRPr>
            </a:pPr>
            <a:r>
              <a:t>2. У серого изображения один канал, у цветного обычно отдельная гистограмма для каждого канала.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162536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900" b="0">
                <a:solidFill>
                  <a:srgbClr val="162536"/>
                </a:solidFill>
                <a:latin typeface="Aptos"/>
              </a:defRPr>
            </a:pPr>
            <a:r>
              <a:t>3. Профиль — одномерный массив средних интенсивностей по строкам или столбцам.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162536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900" b="0">
                <a:solidFill>
                  <a:srgbClr val="162536"/>
                </a:solidFill>
                <a:latin typeface="Aptos"/>
              </a:defRPr>
            </a:pPr>
            <a:r>
              <a:t>4. Горизонтальный профиль: mean(axis=1), вертикальный: mean(axis=0).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162536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900" b="0">
                <a:solidFill>
                  <a:srgbClr val="162536"/>
                </a:solidFill>
                <a:latin typeface="Aptos"/>
              </a:defRPr>
            </a:pPr>
            <a:r>
              <a:t>5. Проекция — сумма интенсивностей вдоль одной координаты.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900" b="1">
                <a:solidFill>
                  <a:srgbClr val="162536"/>
                </a:solidFill>
                <a:latin typeface="Aptos"/>
              </a:defRPr>
            </a:pPr>
            <a:r>
              <a:t>Контрольные вопросы 6–10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54636C"/>
                </a:solidFill>
                <a:latin typeface="Aptos"/>
              </a:defRPr>
            </a:pPr>
            <a:r>
              <a:t>Ответы, связанные с интерпретацией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914400" cy="73152"/>
          </a:xfrm>
          <a:prstGeom prst="rect">
            <a:avLst/>
          </a:prstGeom>
          <a:solidFill>
            <a:srgbClr val="E45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4636C"/>
                </a:solidFill>
                <a:latin typeface="Aptos"/>
              </a:defRPr>
            </a:pPr>
            <a:r>
              <a:t>Лабораторная 2 · вариант 9                            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162536"/>
                </a:solidFill>
                <a:latin typeface="Aptos"/>
              </a:defRPr>
            </a:pPr>
            <a:r>
              <a:t>6. Профиль использует среднее, проекция — сумму; поэтому проекция зависит от размера строки или столбца.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162536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900" b="0">
                <a:solidFill>
                  <a:srgbClr val="162536"/>
                </a:solidFill>
                <a:latin typeface="Aptos"/>
              </a:defRPr>
            </a:pPr>
            <a:r>
              <a:t>7. По гистограмме можно выбрать растяжение контраста или эквализацию.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162536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900" b="0">
                <a:solidFill>
                  <a:srgbClr val="162536"/>
                </a:solidFill>
                <a:latin typeface="Aptos"/>
              </a:defRPr>
            </a:pPr>
            <a:r>
              <a:t>8. Бинарные проекции находят строки текста, границы, положение и размеры объектов.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162536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900" b="0">
                <a:solidFill>
                  <a:srgbClr val="162536"/>
                </a:solidFill>
                <a:latin typeface="Aptos"/>
              </a:defRPr>
            </a:pPr>
            <a:r>
              <a:t>9. Сглаживание уменьшает шум и обычно делает гистограмму компактнее и менее зубчатой.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162536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900" b="0">
                <a:solidFill>
                  <a:srgbClr val="162536"/>
                </a:solidFill>
                <a:latin typeface="Aptos"/>
              </a:defRPr>
            </a:pPr>
            <a:r>
              <a:t>10. Пик — самый частый уровень яркости и число пикселей на нём.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900" b="1">
                <a:solidFill>
                  <a:srgbClr val="162536"/>
                </a:solidFill>
                <a:latin typeface="Aptos"/>
              </a:defRPr>
            </a:pPr>
            <a:r>
              <a:t>Итоги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54636C"/>
                </a:solidFill>
                <a:latin typeface="Aptos"/>
              </a:defRPr>
            </a:pPr>
            <a:r>
              <a:t>Что выполнено в ноутбуке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81328"/>
            <a:ext cx="914400" cy="73152"/>
          </a:xfrm>
          <a:prstGeom prst="rect">
            <a:avLst/>
          </a:prstGeom>
          <a:solidFill>
            <a:srgbClr val="E45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54636C"/>
                </a:solidFill>
                <a:latin typeface="Aptos"/>
              </a:defRPr>
            </a:pPr>
            <a:r>
              <a:t>Лабораторная 2 · вариант 9                            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500" b="0">
                <a:solidFill>
                  <a:srgbClr val="162536"/>
                </a:solidFill>
                <a:latin typeface="Aptos"/>
              </a:defRPr>
            </a:pPr>
            <a:r>
              <a:t>✓ Найден пик исходной гистограммы: 225</a:t>
            </a:r>
          </a:p>
          <a:p>
            <a:pPr algn="l">
              <a:spcAft>
                <a:spcPts val="700"/>
              </a:spcAft>
              <a:defRPr sz="2500" b="0">
                <a:solidFill>
                  <a:srgbClr val="162536"/>
                </a:solidFill>
                <a:latin typeface="Aptos"/>
              </a:defRPr>
            </a:pPr>
            <a:r>
              <a:t>✓ Построены профили модуля отклика Лапласа</a:t>
            </a:r>
          </a:p>
          <a:p>
            <a:pPr algn="l">
              <a:spcAft>
                <a:spcPts val="700"/>
              </a:spcAft>
              <a:defRPr sz="2500" b="0">
                <a:solidFill>
                  <a:srgbClr val="162536"/>
                </a:solidFill>
                <a:latin typeface="Aptos"/>
              </a:defRPr>
            </a:pPr>
            <a:r>
              <a:t>✓ Найдены максимумы горизонтальной и вертикальной проекций</a:t>
            </a:r>
          </a:p>
          <a:p>
            <a:pPr algn="l">
              <a:spcAft>
                <a:spcPts val="700"/>
              </a:spcAft>
              <a:defRPr sz="2500" b="0">
                <a:solidFill>
                  <a:srgbClr val="162536"/>
                </a:solidFill>
                <a:latin typeface="Aptos"/>
              </a:defRPr>
            </a:pPr>
            <a:r>
              <a:t>✓ Выполнена бинаризация Отсу с порогом 141</a:t>
            </a:r>
          </a:p>
          <a:p>
            <a:pPr algn="l">
              <a:spcAft>
                <a:spcPts val="700"/>
              </a:spcAft>
              <a:defRPr sz="2500" b="0">
                <a:solidFill>
                  <a:srgbClr val="162536"/>
                </a:solidFill>
                <a:latin typeface="Aptos"/>
              </a:defRPr>
            </a:pPr>
            <a:r>
              <a:t>✓ Построены профили и проекции бинарного изображения</a:t>
            </a:r>
          </a:p>
          <a:p>
            <a:pPr algn="l">
              <a:spcAft>
                <a:spcPts val="700"/>
              </a:spcAft>
              <a:defRPr sz="2500" b="0">
                <a:solidFill>
                  <a:srgbClr val="162536"/>
                </a:solidFill>
                <a:latin typeface="Aptos"/>
              </a:defRPr>
            </a:pPr>
            <a:r>
              <a:t>✓ Даны ответы на 10 контрольных вопросов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0E7490"/>
                </a:solidFill>
                <a:latin typeface="Aptos"/>
              </a:defRPr>
            </a:pPr>
            <a:r>
              <a:t>Главная идея: двумерное изображение можно исследовать через гистограмму и одномерные сигналы, сохраняя полезную информацию о яркости, границах и положении объекта.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