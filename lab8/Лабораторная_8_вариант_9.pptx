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Сегментация изображений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Вариант 9 · 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8 · вариант 9                         01</a:t>
            </a:r>
          </a:p>
        </p:txBody>
      </p:sp>
      <p:pic>
        <p:nvPicPr>
          <p:cNvPr id="6" name="Picture 5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05840"/>
            <a:ext cx="438912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1031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E7490"/>
                </a:solidFill>
                <a:latin typeface="Aptos"/>
              </a:defRPr>
            </a:pPr>
            <a:r>
              <a:t>Фиксированный порог · Отсу · K-means · SVM · U-Net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Задание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Пять методов сегментации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2536"/>
                </a:solidFill>
                <a:latin typeface="Aptos"/>
              </a:defRPr>
            </a:pPr>
            <a:r>
              <a:t>1. Фиксированный порог</a:t>
            </a:r>
          </a:p>
          <a:p>
            <a:pPr>
              <a:spcAft>
                <a:spcPts val="500"/>
              </a:spcAft>
              <a:defRPr sz="2400" b="0">
                <a:solidFill>
                  <a:srgbClr val="162536"/>
                </a:solidFill>
                <a:latin typeface="Aptos"/>
              </a:defRPr>
            </a:pPr>
            <a:r>
              <a:t>2. Отсу</a:t>
            </a:r>
          </a:p>
          <a:p>
            <a:pPr>
              <a:spcAft>
                <a:spcPts val="500"/>
              </a:spcAft>
              <a:defRPr sz="2400" b="0">
                <a:solidFill>
                  <a:srgbClr val="162536"/>
                </a:solidFill>
                <a:latin typeface="Aptos"/>
              </a:defRPr>
            </a:pPr>
            <a:r>
              <a:t>3. K-means, k=5</a:t>
            </a:r>
          </a:p>
          <a:p>
            <a:pPr>
              <a:spcAft>
                <a:spcPts val="500"/>
              </a:spcAft>
              <a:defRPr sz="2400" b="0">
                <a:solidFill>
                  <a:srgbClr val="162536"/>
                </a:solidFill>
                <a:latin typeface="Aptos"/>
              </a:defRPr>
            </a:pPr>
            <a:r>
              <a:t>4. SVM объект/фон</a:t>
            </a:r>
          </a:p>
          <a:p>
            <a:pPr>
              <a:spcAft>
                <a:spcPts val="500"/>
              </a:spcAft>
              <a:defRPr sz="2400" b="0">
                <a:solidFill>
                  <a:srgbClr val="162536"/>
                </a:solidFill>
                <a:latin typeface="Aptos"/>
              </a:defRPr>
            </a:pPr>
            <a:r>
              <a:t>5. Сравнение с U-Net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8 · вариант 9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Что такое сегментация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Сегментация присваивает каждому пикселю метку области.</a:t>
            </a:r>
          </a:p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Глобальный порог использует одно t. Отсу выбирает t автоматически. K-means группирует признаки. SVM строит границу классов. U-Net преобразует изображение в маску с помощью encoder-decoder и skip connections.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8 · вариант 9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Фиксированный порог и Отсу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Бинаризация яркости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B(x,y)=255, если I(x,y) &gt;= t, иначе 0.</a:t>
            </a:r>
          </a:p>
          <a:p>
            <a:pPr>
              <a:spcAft>
                <a:spcPts val="500"/>
              </a:spcAft>
              <a:defRPr sz="2200" b="0">
                <a:solidFill>
                  <a:srgbClr val="162536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Ручной порог: 180.</a:t>
            </a:r>
          </a:p>
          <a:p>
            <a:pPr>
              <a:spcAft>
                <a:spcPts val="5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Порог Отсу: 141.</a:t>
            </a:r>
          </a:p>
          <a:p>
            <a:pPr>
              <a:spcAft>
                <a:spcPts val="500"/>
              </a:spcAft>
              <a:defRPr sz="2200" b="0">
                <a:solidFill>
                  <a:srgbClr val="162536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Отсу выбирает порог по максимуму межклассовой дисперсии и не требует ручного подбора.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8 · вариант 9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K-means, k=5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Кластеризация пикселей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K-means чередует назначение пикселей ближайшему центру и пересчёт центров.</a:t>
            </a:r>
          </a:p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Для изображения получены центры яркости: 12.18, 69.61, 132.42, 201.44, 227.33.</a:t>
            </a:r>
          </a:p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Кластеры не имеют заранее заданной семантики объекта и фона.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8 · вариант 9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SVM для пиксельной сегментации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Признаки: яркость, x и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Каждый пиксель рассматривается как объект классификации. RBF-SVM обучается разделять объект и фон.</a:t>
            </a:r>
          </a:p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Цели взяты из маски Отсу, так как ручной ground truth отсутствует. Поэтому высокий IoU SVM отражает приближение к Отсу, а не независимую точность.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8 · вариант 9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U-Net на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Сегментационная нейронная сеть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Tiny U-Net: Conv -&gt; Pool -&gt; Conv -&gt; Upsample -&gt; Skip connection -&gt; маска.</a:t>
            </a:r>
          </a:p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Обучение: BCEWithLogitsLoss, Adam, L2 weight_decay=1e-4, 8 эпох.</a:t>
            </a:r>
          </a:p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Обучающие патчи получают псевдоцели Отсу.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8 · вариант 9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IoU относительно маски Отсу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  <a:r>
              <a:t>Фиксированный порог 180: 0.9505</a:t>
            </a:r>
          </a:p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  <a:r>
              <a:t>Отсу: 1.0000</a:t>
            </a:r>
          </a:p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  <a:r>
              <a:t>SVM: 0.9995</a:t>
            </a:r>
          </a:p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  <a:r>
              <a:t>U-Net: 0.8504</a:t>
            </a:r>
          </a:p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  <a:r>
              <a:t>U-Net обучалась коротко и на небольшом наборе патчей. Для честной оценки нужна независимая ручная маска.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8 · вариант 9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Сравнение методов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Численные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8 · вариант 9                         09</a:t>
            </a:r>
          </a:p>
        </p:txBody>
      </p:sp>
      <p:pic>
        <p:nvPicPr>
          <p:cNvPr id="6" name="Picture 5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73152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22860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E7490"/>
                </a:solidFill>
                <a:latin typeface="Aptos"/>
              </a:defRPr>
            </a:pPr>
            <a:r>
              <a:t>SVM почти повторяет Отсу, потому что обучался на его псевдоразметке.</a:t>
            </a:r>
          </a:p>
          <a:p>
            <a:pPr>
              <a:spcAft>
                <a:spcPts val="500"/>
              </a:spcAft>
              <a:defRPr sz="1900" b="1">
                <a:solidFill>
                  <a:srgbClr val="0E7490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900" b="1">
                <a:solidFill>
                  <a:srgbClr val="0E7490"/>
                </a:solidFill>
                <a:latin typeface="Aptos"/>
              </a:defRPr>
            </a:pPr>
            <a:r>
              <a:t>IoU: пересечение масок / их объединение.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Код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Фрагмент U-Net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class TinyUNet(nn.Module):</a:t>
            </a: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    ...</a:t>
            </a: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    def forward(self, x):</a:t>
            </a: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        a = self.encoder(x)</a:t>
            </a: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        b = self.pool(a)</a:t>
            </a: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        return self.decoder(b, a)</a:t>
            </a: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loss = BCEWithLogitsLoss()(logits, target)</a:t>
            </a: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loss.backward()</a:t>
            </a: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optimizer.step()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8 · вариант 9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Ответы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1. Сегментация делит изображение на области или классы пикселей.</a:t>
            </a: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2. Глобальная бинаризация использует один порог, адаптивная — локальные пороги.</a:t>
            </a: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3. Watershed строит линии водораздела между областями рельефа яркости.</a:t>
            </a: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4. K-means даёт жёсткий кластер, Fuzzy C-means — степени принадлежности.</a:t>
            </a:r>
          </a:p>
          <a:p>
            <a:pPr>
              <a:spcAft>
                <a:spcPts val="500"/>
              </a:spcAft>
              <a:defRPr sz="2000" b="0">
                <a:solidFill>
                  <a:srgbClr val="162536"/>
                </a:solidFill>
                <a:latin typeface="Aptos"/>
              </a:defRPr>
            </a:pPr>
            <a:r>
              <a:t>5. CNN автоматически извлекают признаки, учитывают контекст и сложные границы; U-Net сохраняет детали skip connections.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8 · вариант 9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Что выполнено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  <a:r>
              <a:t>✓ Фиксированный порог и Отсу</a:t>
            </a:r>
          </a:p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  <a:r>
              <a:t>✓ K-means с k=5</a:t>
            </a:r>
          </a:p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  <a:r>
              <a:t>✓ SVM объект/фон</a:t>
            </a:r>
          </a:p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  <a:r>
              <a:t>✓ U-Net на PyTorch</a:t>
            </a:r>
          </a:p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  <a:r>
              <a:t>✓ IoU и сравнительная диаграмма</a:t>
            </a:r>
          </a:p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  <a:r>
              <a:t>✓ Теория и ответы на контрольные вопросы</a:t>
            </a:r>
          </a:p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2300" b="0">
                <a:solidFill>
                  <a:srgbClr val="162536"/>
                </a:solidFill>
                <a:latin typeface="Aptos"/>
              </a:defRPr>
            </a:pPr>
            <a:r>
              <a:t>Ограничение: без ground truth сравнение SVM и U-Net с Отсу является демонстрационным.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8 · вариант 9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