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5532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60"/>
              <a:t>ЛАБОРАТОРНАЯ РАБОТА 1 · ВАРИАНТ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5532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  <a:defRPr sz="3800" b="1">
                <a:solidFill>
                  <a:srgbClr val="15171C"/>
                </a:solidFill>
                <a:latin typeface="Helvetica Neue"/>
              </a:defRPr>
            </a:pPr>
            <a:r>
              <a:t>Изображение</a:t>
            </a:r>
          </a:p>
          <a:p>
            <a:pPr algn="l">
              <a:lnSpc>
                <a:spcPct val="108000"/>
              </a:lnSpc>
              <a:spcAft>
                <a:spcPts val="0"/>
              </a:spcAft>
              <a:defRPr sz="3800" b="1">
                <a:solidFill>
                  <a:srgbClr val="15171C"/>
                </a:solidFill>
                <a:latin typeface="Helvetica Neue"/>
              </a:defRPr>
            </a:pPr>
            <a:r>
              <a:t>как массив чисел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77056"/>
            <a:ext cx="5532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800" b="0">
                <a:solidFill>
                  <a:srgbClr val="5B6070"/>
                </a:solidFill>
                <a:latin typeface="Helvetica Neue"/>
              </a:defRPr>
            </a:pPr>
            <a:r>
              <a:t>Цветовые модели, бинаризация методом Оцу,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800" b="0">
                <a:solidFill>
                  <a:srgbClr val="5B6070"/>
                </a:solidFill>
                <a:latin typeface="Helvetica Neue"/>
              </a:defRPr>
            </a:pPr>
            <a:r>
              <a:t>прямое редактирование пикселей и альфа-канал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42432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Компьютерное зрение · OpenCV · NumPy · Matplotlib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83" y="2167109"/>
            <a:ext cx="4645152" cy="2615221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ПОСТАНОВКА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Задание варианта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Пять обязательных пунктов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259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075688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Загрузить изображение, вывести размеры и число каналов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9748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6606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715768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Перевести в градации серого и бинаризовать методом Оцу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375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061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355848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Преобразовать в HSV и вывести каналы H, S, 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77639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4622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95927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Закрасить синим левый край шириной 20 пикселей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177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8630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4636007"/>
            <a:ext cx="63185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15171C"/>
                </a:solidFill>
                <a:latin typeface="Helvetica Neue"/>
              </a:defRPr>
            </a:pPr>
            <a:r>
              <a:t>Сохранить изображение с изменениями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2011680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5" y="2191512"/>
            <a:ext cx="2752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1000 × 563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5" y="2593848"/>
            <a:ext cx="2752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размер кадра, пикселей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194304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7615" y="3374136"/>
            <a:ext cx="2752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3 · uint8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5" y="3776472"/>
            <a:ext cx="2752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каналы BGR и тип данных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4376928"/>
            <a:ext cx="3264408" cy="944880"/>
          </a:xfrm>
          <a:prstGeom prst="roundRect">
            <a:avLst>
              <a:gd name="adj" fmla="val 13548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5" y="4556760"/>
            <a:ext cx="27523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1.61 МБ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5" y="4959096"/>
            <a:ext cx="2752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массив в оперативной памяти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ПОСТАНОВКА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Собственные задачи 6–10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Пять задач, сформулированных самостоятельно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1742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167128"/>
            <a:ext cx="99578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15171C"/>
                </a:solidFill>
                <a:latin typeface="Helvetica Neue"/>
              </a:defRPr>
            </a:pPr>
            <a:r>
              <a:t>Сравнить порог Оцу с фиксированным и проверить его ручным расчётом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803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489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898648"/>
            <a:ext cx="99578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15171C"/>
                </a:solidFill>
                <a:latin typeface="Helvetica Neue"/>
              </a:defRPr>
            </a:pPr>
            <a:r>
              <a:t>Разделить кадр на каналы B, G, R и собрать их статистику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61188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8046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630168"/>
            <a:ext cx="99578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15171C"/>
                </a:solidFill>
                <a:latin typeface="Helvetica Neue"/>
              </a:defRPr>
            </a:pPr>
            <a:r>
              <a:t>Построить гистограмму тона H и выделить фон бинарной маской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34340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4119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361688"/>
            <a:ext cx="99578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15171C"/>
                </a:solidFill>
                <a:latin typeface="Helvetica Neue"/>
              </a:defRPr>
            </a:pPr>
            <a:r>
              <a:t>Сравнить модели HSV, HLS, YCrCb и LAB между собой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0749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14350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  <a:defRPr sz="950" b="1">
                <a:solidFill>
                  <a:srgbClr val="0A2E6B"/>
                </a:solidFill>
                <a:latin typeface="Helvetica Neue"/>
              </a:defRPr>
            </a:pPr>
            <a: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5093208"/>
            <a:ext cx="99578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15171C"/>
                </a:solidFill>
                <a:latin typeface="Helvetica Neue"/>
              </a:defRPr>
            </a:pPr>
            <a:r>
              <a:t>Убрать фон по маске и сохранить «стикер» в формате RGBA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ТЕОРИЯ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Три опоры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Что нужно знать, чтобы прочитать 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3355848" cy="2512771"/>
          </a:xfrm>
          <a:prstGeom prst="roundRect">
            <a:avLst>
              <a:gd name="adj" fmla="val 5094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2807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Массив пикселей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78608"/>
            <a:ext cx="2807208" cy="159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Цветное изображение — матрица (H, W, 3) типа uint8. OpenCV хранит каналы в порядке BGR, а обращение image[y, x] идёт сначала по строке, потом по столбцу.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920240"/>
            <a:ext cx="3355848" cy="2512771"/>
          </a:xfrm>
          <a:prstGeom prst="roundRect">
            <a:avLst>
              <a:gd name="adj" fmla="val 5094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2194560"/>
            <a:ext cx="2807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Порог Оцу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578608"/>
            <a:ext cx="2807208" cy="159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σ²b(t) = w₀·w₁·(μ₀ − μ₁)²</a:t>
            </a:r>
          </a:p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Перебираются все пороги и выбирается тот, что разводит фон и объект максимально далеко друг от друга.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920240"/>
            <a:ext cx="3355848" cy="2512771"/>
          </a:xfrm>
          <a:prstGeom prst="roundRect">
            <a:avLst>
              <a:gd name="adj" fmla="val 5094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194560"/>
            <a:ext cx="2807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1">
                <a:solidFill>
                  <a:srgbClr val="0B57D0"/>
                </a:solidFill>
                <a:latin typeface="Helvetica Neue"/>
              </a:defRPr>
            </a:pPr>
            <a:r>
              <a:t>Модель HSV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578608"/>
            <a:ext cx="2807208" cy="159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H — тон (0…179), S — насыщенность, V — яркость. Весь цвет собран в одном канале, поэтому маска по цвету — это один диапазон вместо трёх.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43907"/>
            <a:ext cx="10543032" cy="1463040"/>
          </a:xfrm>
          <a:prstGeom prst="roundRect">
            <a:avLst>
              <a:gd name="adj" fmla="val 8750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0704" y="4981651"/>
            <a:ext cx="50292" cy="987552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999939"/>
            <a:ext cx="9701784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600" b="0">
                <a:solidFill>
                  <a:srgbClr val="5B6070"/>
                </a:solidFill>
                <a:latin typeface="Helvetica Neue"/>
              </a:defRPr>
            </a:pPr>
            <a:r>
              <a:t>Полутоновое изображение считается как Y = 0.299·R + 0.587·G + 0.114·B — коэффициенты отражают разную чувствительность глаза к каналам. Та же формула стоит за каналом Y модели YCrCb, что проверяется в задаче 9.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Размеры и число каналов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image.shape возвращает (высота, ширина, каналы)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05</a:t>
            </a:r>
          </a:p>
        </p:txBody>
      </p:sp>
      <p:pic>
        <p:nvPicPr>
          <p:cNvPr id="7" name="Picture 6" descr="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6812280" cy="3835314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7973568" y="1965960"/>
            <a:ext cx="3392424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35124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1000 × 563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5374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ширина × высота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3127248"/>
            <a:ext cx="3392424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29641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563 тыс.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69874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пикселей в кадре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4288536"/>
            <a:ext cx="3392424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457699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[23, 213, 223]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86003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пиксель [0, 0] в BGR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Градации серого и метод Оцу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Порог подбирается автоматически по гистограмме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06</a:t>
            </a:r>
          </a:p>
        </p:txBody>
      </p:sp>
      <p:pic>
        <p:nvPicPr>
          <p:cNvPr id="7" name="Picture 6" descr="ot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7360920" cy="2350008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549640" y="1965960"/>
            <a:ext cx="281635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5672" y="2135124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5672" y="2537460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порог Оцу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127248"/>
            <a:ext cx="281635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5672" y="3296412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85.00 %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5672" y="3698748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белых пикселей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4288536"/>
            <a:ext cx="281635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5672" y="4457699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196.24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5672" y="4860036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средняя яркость кадра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00016"/>
            <a:ext cx="7360920" cy="995375"/>
          </a:xfrm>
          <a:prstGeom prst="roundRect">
            <a:avLst>
              <a:gd name="adj" fmla="val 12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919472"/>
            <a:ext cx="50292" cy="556463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4937759"/>
            <a:ext cx="6702552" cy="519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otsu, binary = cv2.threshold(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    gray, 0, 255, cv2.THRESH_BINARY + cv2.THRESH_OTSU)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ЗАДАЧА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Проверка метода Оцу вручную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Максимум межклассовой дисперсии совпал с OpenCV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07</a:t>
            </a:r>
          </a:p>
        </p:txBody>
      </p:sp>
      <p:pic>
        <p:nvPicPr>
          <p:cNvPr id="7" name="Picture 6" descr="si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6720840" cy="379476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7882127" y="1965960"/>
            <a:ext cx="3483864" cy="932688"/>
          </a:xfrm>
          <a:prstGeom prst="roundRect">
            <a:avLst>
              <a:gd name="adj" fmla="val 1372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2139696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142 = 142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5420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OpenCV и ручной расчёт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3136391"/>
            <a:ext cx="3483864" cy="932688"/>
          </a:xfrm>
          <a:prstGeom prst="roundRect">
            <a:avLst>
              <a:gd name="adj" fmla="val 13725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3310127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3018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3712463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максимум σ²b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4443984"/>
            <a:ext cx="1568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Порог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8616" y="4443984"/>
            <a:ext cx="14396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Доля белого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0144" y="4718304"/>
            <a:ext cx="3227832" cy="12801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4809744"/>
            <a:ext cx="1568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8616" y="4809744"/>
            <a:ext cx="14396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88.95 %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4" y="5102352"/>
            <a:ext cx="3227832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82127" y="5120640"/>
            <a:ext cx="3483863" cy="347472"/>
          </a:xfrm>
          <a:prstGeom prst="roundRect">
            <a:avLst>
              <a:gd name="adj" fmla="val 18421"/>
            </a:avLst>
          </a:prstGeom>
          <a:solidFill>
            <a:srgbClr val="D7E3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0144" y="5175504"/>
            <a:ext cx="1568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1">
                <a:solidFill>
                  <a:srgbClr val="15171C"/>
                </a:solidFill>
                <a:latin typeface="Helvetica Neue"/>
              </a:defRPr>
            </a:pPr>
            <a:r>
              <a:t>Оцу · 142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8616" y="5175504"/>
            <a:ext cx="14396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1">
                <a:solidFill>
                  <a:srgbClr val="15171C"/>
                </a:solidFill>
                <a:latin typeface="Helvetica Neue"/>
              </a:defRPr>
            </a:pPr>
            <a:r>
              <a:t>85.00 %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10144" y="5468112"/>
            <a:ext cx="3227832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5541264"/>
            <a:ext cx="1568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616" y="5541264"/>
            <a:ext cx="14396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77.73 %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15584"/>
            <a:ext cx="6720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Фиксированный порог пришлось бы подбирать заново для каждого кадра.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Каналы HSV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Цвет и яркость разнесены по разным каналам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08</a:t>
            </a:r>
          </a:p>
        </p:txBody>
      </p:sp>
      <p:pic>
        <p:nvPicPr>
          <p:cNvPr id="7" name="Picture 6" descr="hs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10543032" cy="2249424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22960" y="4462272"/>
            <a:ext cx="3355848" cy="969264"/>
          </a:xfrm>
          <a:prstGeom prst="roundRect">
            <a:avLst>
              <a:gd name="adj" fmla="val 1320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654296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35.1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5056632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среднее H — тон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4462272"/>
            <a:ext cx="3355848" cy="969264"/>
          </a:xfrm>
          <a:prstGeom prst="roundRect">
            <a:avLst>
              <a:gd name="adj" fmla="val 1320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4654296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202.6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5056632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среднее S — насыщенность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4462272"/>
            <a:ext cx="3355848" cy="969264"/>
          </a:xfrm>
          <a:prstGeom prst="roundRect">
            <a:avLst>
              <a:gd name="adj" fmla="val 1320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4654296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224.1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5056632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среднее V — яркость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87568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Высокая средняя насыщенность означает, что кадр состоит из чистых, а не приглушённых цветов.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ПУНКТЫ 04–05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Правка пикселей и сохранение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Срез NumPy и запись файла в порядке BGR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09</a:t>
            </a:r>
          </a:p>
        </p:txBody>
      </p:sp>
      <p:pic>
        <p:nvPicPr>
          <p:cNvPr id="7" name="Picture 6" descr="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7360920" cy="2350008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366760" y="1965960"/>
            <a:ext cx="2999232" cy="950976"/>
          </a:xfrm>
          <a:prstGeom prst="roundRect">
            <a:avLst>
              <a:gd name="adj" fmla="val 134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2792" y="2148840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11260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2551176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изменённых пикселей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154680"/>
            <a:ext cx="2999232" cy="950976"/>
          </a:xfrm>
          <a:prstGeom prst="roundRect">
            <a:avLst>
              <a:gd name="adj" fmla="val 134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3337560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побитово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739896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файл прочитан обратно и совпал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54880"/>
            <a:ext cx="7360920" cy="1261668"/>
          </a:xfrm>
          <a:prstGeom prst="roundRect">
            <a:avLst>
              <a:gd name="adj" fmla="val 10146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4974336"/>
            <a:ext cx="50292" cy="822756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992624"/>
            <a:ext cx="6702552" cy="78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edited = image.copy()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edited[:, :20] = (255, 0, 0)      # BGR: синий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cv2.imwrite('output/edited_blue_edge.png', edited)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ЗАДАЧА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Каналы B, G, R и их статистика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Числовой портрет жёлтого фона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10</a:t>
            </a:r>
          </a:p>
        </p:txBody>
      </p:sp>
      <p:pic>
        <p:nvPicPr>
          <p:cNvPr id="7" name="Picture 6" descr="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10543032" cy="2249424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22960" y="4498848"/>
            <a:ext cx="6803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Канал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3001" y="449884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Среднее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5574" y="449884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Медиана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8147" y="449884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1">
                <a:solidFill>
                  <a:srgbClr val="5B6070"/>
                </a:solidFill>
                <a:latin typeface="Helvetica Neue"/>
              </a:defRPr>
            </a:pPr>
            <a:r>
              <a:t>Ст. отклонение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73168"/>
            <a:ext cx="4937760" cy="12801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64608"/>
            <a:ext cx="6803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3001" y="486460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49.70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5574" y="486460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33.0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8147" y="486460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49.32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157216"/>
            <a:ext cx="4937760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230368"/>
            <a:ext cx="6803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3001" y="523036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218.46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5574" y="523036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251.0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8147" y="523036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66.31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522976"/>
            <a:ext cx="4937760" cy="7315"/>
          </a:xfrm>
          <a:prstGeom prst="rect">
            <a:avLst/>
          </a:prstGeom>
          <a:solidFill>
            <a:srgbClr val="C9D0D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96128"/>
            <a:ext cx="6803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3001" y="559612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208.49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5574" y="559612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240.0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8147" y="5596128"/>
            <a:ext cx="12728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150" b="0">
                <a:solidFill>
                  <a:srgbClr val="15171C"/>
                </a:solidFill>
                <a:latin typeface="Helvetica Neue"/>
              </a:defRPr>
            </a:pPr>
            <a:r>
              <a:t>75.01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443984"/>
            <a:ext cx="5102352" cy="1581912"/>
          </a:xfrm>
          <a:prstGeom prst="roundRect">
            <a:avLst>
              <a:gd name="adj" fmla="val 8092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4536" y="4700016"/>
            <a:ext cx="4498848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Низкое среднее синего при высоких средних зелёного и красного — это и есть жёлтый: в RGB он складывается из красного и зелёного при почти нулевом синем.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ЗАДАЧА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Выделение фона по цвету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Один диапазон тона вместо трёх диапазонов BGR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11</a:t>
            </a:r>
          </a:p>
        </p:txBody>
      </p:sp>
      <p:pic>
        <p:nvPicPr>
          <p:cNvPr id="7" name="Picture 6" descr="hu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138928" cy="2606040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pic>
        <p:nvPicPr>
          <p:cNvPr id="8" name="Picture 7" descr="m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965960"/>
            <a:ext cx="5138928" cy="1723644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9" name="Rounded Rectangle 8"/>
          <p:cNvSpPr/>
          <p:nvPr/>
        </p:nvSpPr>
        <p:spPr>
          <a:xfrm>
            <a:off x="6227064" y="3675887"/>
            <a:ext cx="5138928" cy="1248968"/>
          </a:xfrm>
          <a:prstGeom prst="roundRect">
            <a:avLst>
              <a:gd name="adj" fmla="val 10249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27064" y="3895344"/>
            <a:ext cx="50292" cy="810056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3913631"/>
            <a:ext cx="4480560" cy="773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yellow_mask = cv2.inRange(hsv,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    np.array([20, 80, 80]), np.array([35, 255, 255]))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46320"/>
            <a:ext cx="5152644" cy="969264"/>
          </a:xfrm>
          <a:prstGeom prst="roundRect">
            <a:avLst>
              <a:gd name="adj" fmla="val 1320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5038344"/>
            <a:ext cx="46405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H = 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5440680"/>
            <a:ext cx="46405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доминирующий тон, ≈ 62° на цветовом круге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3348" y="4846320"/>
            <a:ext cx="5152644" cy="969264"/>
          </a:xfrm>
          <a:prstGeom prst="roundRect">
            <a:avLst>
              <a:gd name="adj" fmla="val 1320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9380" y="5038344"/>
            <a:ext cx="46405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79.03 %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9380" y="5440680"/>
            <a:ext cx="46405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площади кадра занимает фон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ЗАДАЧА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Сравнение цветовых моделей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Канал яркости у всех моделей один и тот же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12</a:t>
            </a:r>
          </a:p>
        </p:txBody>
      </p:sp>
      <p:pic>
        <p:nvPicPr>
          <p:cNvPr id="7" name="Picture 6" descr="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38528"/>
            <a:ext cx="10543032" cy="2249424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22960" y="4462272"/>
            <a:ext cx="3355848" cy="969264"/>
          </a:xfrm>
          <a:prstGeom prst="roundRect">
            <a:avLst>
              <a:gd name="adj" fmla="val 1320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654296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5056632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максимум |Y − gray|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4462272"/>
            <a:ext cx="3355848" cy="969264"/>
          </a:xfrm>
          <a:prstGeom prst="roundRect">
            <a:avLst>
              <a:gd name="adj" fmla="val 1320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4654296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0.0035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5056632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средняя разница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4462272"/>
            <a:ext cx="3355848" cy="969264"/>
          </a:xfrm>
          <a:prstGeom prst="roundRect">
            <a:avLst>
              <a:gd name="adj" fmla="val 13207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4654296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99.65 %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5056632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пикселей совпали точно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87568"/>
            <a:ext cx="10543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50" b="0">
                <a:solidFill>
                  <a:srgbClr val="5B6070"/>
                </a:solidFill>
                <a:latin typeface="Helvetica Neue"/>
              </a:defRPr>
            </a:pPr>
            <a:r>
              <a:t>Канал Y модели YCrCb и полутоновое изображение считаются по одной формуле — расхождение возникает только из-за целочисленного округления.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ЗАДАЧА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Стикер без фона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Маска фона переиспользуется как прозрачность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13</a:t>
            </a:r>
          </a:p>
        </p:txBody>
      </p:sp>
      <p:pic>
        <p:nvPicPr>
          <p:cNvPr id="7" name="Picture 6" descr="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7360920" cy="2350008"/>
          </a:xfrm>
          <a:prstGeom prst="rect">
            <a:avLst/>
          </a:prstGeom>
          <a:effectLst>
            <a:outerShdw blurRad="114300" dist="25400" dir="5400000" rotWithShape="0">
              <a:srgbClr val="1B2A44">
                <a:alpha val="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366760" y="1965960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2792" y="2135124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19.95 %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2537460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непрозрачных пикселей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127248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3296412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(563, 1000, 4)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698748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чтение с IMREAD_UNCHANGED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4288536"/>
            <a:ext cx="2999232" cy="923544"/>
          </a:xfrm>
          <a:prstGeom prst="roundRect">
            <a:avLst>
              <a:gd name="adj" fmla="val 13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4457699"/>
            <a:ext cx="2487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500" b="1">
                <a:solidFill>
                  <a:srgbClr val="0B57D0"/>
                </a:solidFill>
                <a:latin typeface="Helvetica Neue"/>
              </a:defRPr>
            </a:pPr>
            <a:r>
              <a:t>(563, 1000, 3)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4860036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1000" b="0">
                <a:solidFill>
                  <a:srgbClr val="5B6070"/>
                </a:solidFill>
                <a:latin typeface="Helvetica Neue"/>
              </a:defRPr>
            </a:pPr>
            <a:r>
              <a:t>без флага — альфа теряется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91456"/>
            <a:ext cx="7360920" cy="995375"/>
          </a:xfrm>
          <a:prstGeom prst="roundRect">
            <a:avLst>
              <a:gd name="adj" fmla="val 12861"/>
            </a:avLst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5010912"/>
            <a:ext cx="50292" cy="556463"/>
          </a:xfrm>
          <a:prstGeom prst="roundRect">
            <a:avLst>
              <a:gd name="adj" fmla="val 50000"/>
            </a:avLst>
          </a:prstGeom>
          <a:solidFill>
            <a:srgbClr val="0B57D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5029200"/>
            <a:ext cx="6702552" cy="519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rgba = cv2.cvtColor(image, cv2.COLOR_BGR2BGRA)</a:t>
            </a:r>
          </a:p>
          <a:p>
            <a:pPr algn="l">
              <a:lnSpc>
                <a:spcPct val="128000"/>
              </a:lnSpc>
              <a:spcAft>
                <a:spcPts val="100"/>
              </a:spcAft>
              <a:defRPr sz="1300" b="0">
                <a:solidFill>
                  <a:srgbClr val="15171C"/>
                </a:solidFill>
                <a:latin typeface="Menlo"/>
              </a:defRPr>
            </a:pPr>
            <a:r>
              <a:t>rgba[:, :, 3] = alpha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ЗАЩИТА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Контрольные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Ответы по материалу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042916" cy="2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50" b="1">
                <a:solidFill>
                  <a:srgbClr val="15171C"/>
                </a:solidFill>
                <a:latin typeface="Helvetica Neue"/>
              </a:defRPr>
            </a:pPr>
            <a:r>
              <a:t>Что такое пиксель?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12289"/>
            <a:ext cx="5042916" cy="101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300" b="0">
                <a:solidFill>
                  <a:srgbClr val="5B6070"/>
                </a:solidFill>
                <a:latin typeface="Helvetica Neue"/>
              </a:defRPr>
            </a:pPr>
            <a:r>
              <a:t>Наименьший элемент растра. В цветном изображении — вектор из трёх uint8, в OpenCV в порядке B, G, 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52800"/>
            <a:ext cx="5042916" cy="2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50" b="1">
                <a:solidFill>
                  <a:srgbClr val="15171C"/>
                </a:solidFill>
                <a:latin typeface="Helvetica Neue"/>
              </a:defRPr>
            </a:pPr>
            <a:r>
              <a:t>Чем RGB отличается от HSV?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3409"/>
            <a:ext cx="5042916" cy="101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300" b="0">
                <a:solidFill>
                  <a:srgbClr val="5B6070"/>
                </a:solidFill>
                <a:latin typeface="Helvetica Neue"/>
              </a:defRPr>
            </a:pPr>
            <a:r>
              <a:t>RGB смешивает три излучения, и при смене освещения меняются все три канала. HSV отделяет тон от яркости, поэтому цвет задаётся одним каналом.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93920"/>
            <a:ext cx="5042916" cy="2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50" b="1">
                <a:solidFill>
                  <a:srgbClr val="15171C"/>
                </a:solidFill>
                <a:latin typeface="Helvetica Neue"/>
              </a:defRPr>
            </a:pPr>
            <a:r>
              <a:t>Как получить отдельный канал?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94529"/>
            <a:ext cx="5042916" cy="101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300" b="0">
                <a:solidFill>
                  <a:srgbClr val="5B6070"/>
                </a:solidFill>
                <a:latin typeface="Helvetica Neue"/>
              </a:defRPr>
            </a:pPr>
            <a:r>
              <a:t>cv2.split(image) либо срез image[:, :, 0] — срез быстрее, так как не копирует данные. Обратно — cv2.merge.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2011680"/>
            <a:ext cx="5042916" cy="2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50" b="1">
                <a:solidFill>
                  <a:srgbClr val="15171C"/>
                </a:solidFill>
                <a:latin typeface="Helvetica Neue"/>
              </a:defRPr>
            </a:pPr>
            <a:r>
              <a:t>Как перевести в градации серого?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2312289"/>
            <a:ext cx="5042916" cy="101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300" b="0">
                <a:solidFill>
                  <a:srgbClr val="5B6070"/>
                </a:solidFill>
                <a:latin typeface="Helvetica Neue"/>
              </a:defRPr>
            </a:pPr>
            <a:r>
              <a:t>cv2.cvtColor(image, cv2.COLOR_BGR2GRAY); внутри считается Y = 0.299R + 0.587G + 0.114B.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3352800"/>
            <a:ext cx="5042916" cy="2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50" b="1">
                <a:solidFill>
                  <a:srgbClr val="15171C"/>
                </a:solidFill>
                <a:latin typeface="Helvetica Neue"/>
              </a:defRPr>
            </a:pPr>
            <a:r>
              <a:t>Что такое альфа-канал?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3653409"/>
            <a:ext cx="5042916" cy="101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  <a:defRPr sz="1300" b="0">
                <a:solidFill>
                  <a:srgbClr val="5B6070"/>
                </a:solidFill>
                <a:latin typeface="Helvetica Neue"/>
              </a:defRPr>
            </a:pPr>
            <a:r>
              <a:t>Четвёртый канал непрозрачности 0…255. Поддерживают PNG и TIFF, но не JPEG; читается только с флагом IMREAD_UNCHANGED.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12064"/>
            <a:ext cx="105457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000" b="1">
                <a:solidFill>
                  <a:srgbClr val="0B57D0"/>
                </a:solidFill>
                <a:latin typeface="Helvetica Neue"/>
              </a:defRPr>
            </a:pPr>
            <a:r>
              <a:rPr spc="140"/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700" b="1">
                <a:solidFill>
                  <a:srgbClr val="15171C"/>
                </a:solidFill>
                <a:latin typeface="Helvetica Neue"/>
              </a:defRPr>
            </a:pPr>
            <a:r>
              <a:t>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350" b="0">
                <a:solidFill>
                  <a:srgbClr val="5B6070"/>
                </a:solidFill>
                <a:latin typeface="Helvetica Neue"/>
              </a:defRPr>
            </a:pPr>
            <a:r>
              <a:t>Что выполнено в ноутбуке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45936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Лабораторная работа 1 · вариант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3459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5B6070"/>
                </a:solidFill>
                <a:latin typeface="Helvetica Neue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1965960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Изображение прочитано как массив (563, 1000, 3) типа uint8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0545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414015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Метод Оцу выбрал порог 142; ручной расчёт дисперсии дал то же значение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535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2862072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Выведены каналы H, S, V и подтверждена высокая насыщенность кадра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0156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310128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Полоса шириной 20 пикселей закрашена синим — 11260 пикселей — и сохранена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49623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758183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Фон выделен одним диапазоном тона: 79.03 % площади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97679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206240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Канал Y и полутоновое изображение совпали на 99.65 % пикселей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7457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46B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4654296"/>
            <a:ext cx="1015898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15171C"/>
                </a:solidFill>
                <a:latin typeface="Helvetica Neue"/>
              </a:defRPr>
            </a:pPr>
            <a:r>
              <a:t>Получен PNG с альфа-каналом: непрозрачны 19.95 % пикселей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105430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  <a:defRPr sz="1600" b="1">
                <a:solidFill>
                  <a:srgbClr val="0B57D0"/>
                </a:solidFill>
                <a:latin typeface="Helvetica Neue"/>
              </a:defRPr>
            </a:pPr>
            <a:r>
              <a:t>Изображение — обычный числовой массив, а цветовые модели — разные системы координат для одного и того же цвета: выбор модели определяет, насколько простой окажется задача.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