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64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6126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60"/>
              <a:t>ИТОГОВЫЙ ПРОЕКТ · КОМПЬЮТЕРНОЕ ЗРЕНИЕ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61264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500" b="1">
                <a:solidFill>
                  <a:srgbClr val="15171C"/>
                </a:solidFill>
                <a:latin typeface="Helvetica Neue"/>
              </a:defRPr>
            </a:pPr>
            <a:r>
              <a:t>Перенос художественного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3500" b="1">
                <a:solidFill>
                  <a:srgbClr val="15171C"/>
                </a:solidFill>
                <a:latin typeface="Helvetica Neue"/>
              </a:defRPr>
            </a:pPr>
            <a:r>
              <a:t>стиля на фотографию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77056"/>
            <a:ext cx="6126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  <a:defRPr sz="1800" b="0">
                <a:solidFill>
                  <a:srgbClr val="5B6070"/>
                </a:solidFill>
                <a:latin typeface="Helvetica Neue"/>
              </a:defRPr>
            </a:pPr>
            <a:r>
              <a:t>Методы решения задачи 13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800" b="0">
                <a:solidFill>
                  <a:srgbClr val="5B6070"/>
                </a:solidFill>
                <a:latin typeface="Helvetica Neue"/>
              </a:defRPr>
            </a:pPr>
            <a:r>
              <a:t>Выбранное направление: условный диффузионный трансформер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42432"/>
            <a:ext cx="74980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Кошелев Егор · Шепилов Степан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Итоговый проект · задача 13 · перенос стиля изображения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ЗАДАЧА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Постановка 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Что должно измениться, а что — остаться узнаваемым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Итоговый проект · задача 13 · перенос стиля изображения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65960"/>
            <a:ext cx="3356762" cy="2331720"/>
          </a:xfrm>
          <a:prstGeom prst="roundRect">
            <a:avLst>
              <a:gd name="adj" fmla="val 5490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240279"/>
            <a:ext cx="28081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Вход: фото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24328"/>
            <a:ext cx="2808122" cy="1417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Содержание C: объекты, геометрия, композиция, важные детали.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7466" y="1965960"/>
            <a:ext cx="3356762" cy="2331720"/>
          </a:xfrm>
          <a:prstGeom prst="roundRect">
            <a:avLst>
              <a:gd name="adj" fmla="val 5490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1786" y="2240279"/>
            <a:ext cx="28081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Условие: стиль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1786" y="2624328"/>
            <a:ext cx="2808122" cy="1417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Референс S: цветовая палитра, фактура, мазок и характерные формы.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1972" y="1965960"/>
            <a:ext cx="3356762" cy="2331720"/>
          </a:xfrm>
          <a:prstGeom prst="roundRect">
            <a:avLst>
              <a:gd name="adj" fmla="val 5490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86292" y="2240279"/>
            <a:ext cx="28081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Выход: изображение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6292" y="2624328"/>
            <a:ext cx="2808122" cy="1417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Результат Y: художественные признаки S при сохранении содержания 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599432"/>
            <a:ext cx="10545775" cy="1097280"/>
          </a:xfrm>
          <a:prstGeom prst="roundRect">
            <a:avLst>
              <a:gd name="adj" fmla="val 11666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60704" y="4837176"/>
            <a:ext cx="50292" cy="621792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0" y="4880610"/>
            <a:ext cx="9704527" cy="5852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Это задача преобразования изображения, а не классификация стиля. Качество оцениваем одновременно по сходству с фото по содержанию и с референсом по стилю.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ОБЗОР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Семейства методов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От простого базового решения к генеративным моделям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Итоговый проект · задача 13 · перенос стиля изображения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56816"/>
            <a:ext cx="2519857" cy="2971800"/>
          </a:xfrm>
          <a:prstGeom prst="roundRect">
            <a:avLst>
              <a:gd name="adj" fmla="val 5080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231136"/>
            <a:ext cx="197121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Фильтры и статистика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15184"/>
            <a:ext cx="1971217" cy="2057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250" b="0">
                <a:solidFill>
                  <a:srgbClr val="5B6070"/>
                </a:solidFill>
                <a:latin typeface="Helvetica Neue"/>
              </a:defRPr>
            </a:pPr>
            <a:r>
              <a:t>Перенос палитры, гистограмм, текстур. Быстро; семантика сцены обычно не учитывается.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8265" y="1956816"/>
            <a:ext cx="2519857" cy="2971800"/>
          </a:xfrm>
          <a:prstGeom prst="roundRect">
            <a:avLst>
              <a:gd name="adj" fmla="val 5080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72585" y="2176272"/>
            <a:ext cx="197121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rPr dirty="0" err="1"/>
              <a:t>Оптимизационный</a:t>
            </a:r>
            <a:r>
              <a:rPr dirty="0"/>
              <a:t> NST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2585" y="2615184"/>
            <a:ext cx="1971217" cy="2057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250" b="0">
                <a:solidFill>
                  <a:srgbClr val="5B6070"/>
                </a:solidFill>
                <a:latin typeface="Helvetica Neue"/>
              </a:defRPr>
            </a:pPr>
            <a:r>
              <a:t>Отдельно оптимизируем каждое выходное изображение по потерям содержания и стиля.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3571" y="1956816"/>
            <a:ext cx="2519857" cy="2971800"/>
          </a:xfrm>
          <a:prstGeom prst="roundRect">
            <a:avLst>
              <a:gd name="adj" fmla="val 5080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7891" y="2231136"/>
            <a:ext cx="197121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Feed-forward / GAN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7891" y="2615184"/>
            <a:ext cx="1971217" cy="2057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250" b="0">
                <a:solidFill>
                  <a:srgbClr val="5B6070"/>
                </a:solidFill>
                <a:latin typeface="Helvetica Neue"/>
              </a:defRPr>
            </a:pPr>
            <a:r>
              <a:t>Обученная сеть переносит стиль за один проход; GAN также учится отображению между доменами.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48877" y="1956816"/>
            <a:ext cx="2519857" cy="2971800"/>
          </a:xfrm>
          <a:prstGeom prst="roundRect">
            <a:avLst>
              <a:gd name="adj" fmla="val 5080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23197" y="2231136"/>
            <a:ext cx="197121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Диффузия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3197" y="2615184"/>
            <a:ext cx="1971217" cy="2057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250" b="0">
                <a:solidFill>
                  <a:srgbClr val="5B6070"/>
                </a:solidFill>
                <a:latin typeface="Helvetica Neue"/>
              </a:defRPr>
            </a:pPr>
            <a:r>
              <a:t>Шумоподавляющая генерация с условием по фото и стилю; гибкая, но итеративная.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230368"/>
            <a:ext cx="10545775" cy="822960"/>
          </a:xfrm>
          <a:prstGeom prst="roundRect">
            <a:avLst>
              <a:gd name="adj" fmla="val 15555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60704" y="5468112"/>
            <a:ext cx="50292" cy="347472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71600" y="5527929"/>
            <a:ext cx="97045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150" b="0">
                <a:solidFill>
                  <a:srgbClr val="5B6070"/>
                </a:solidFill>
                <a:latin typeface="Helvetica Neue"/>
              </a:defRPr>
            </a:pPr>
            <a:r>
              <a:t>Сравнивать нужно при одинаковых входах, разрешении и правилах оценки; иначе измеряется не только сам метод.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ПОДХОД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Классические базовые методы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Просты в реализации и полезны как контрольные точки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Итоговый проект · задача 13 · перенос стиля изображения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75104"/>
            <a:ext cx="3356762" cy="2514600"/>
          </a:xfrm>
          <a:prstGeom prst="roundRect">
            <a:avLst>
              <a:gd name="adj" fmla="val 5090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249424"/>
            <a:ext cx="28081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Сопоставление цветов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33472"/>
            <a:ext cx="2808122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20" b="0">
                <a:solidFill>
                  <a:srgbClr val="5B6070"/>
                </a:solidFill>
                <a:latin typeface="Helvetica Neue"/>
              </a:defRPr>
            </a:pPr>
            <a:r>
              <a:t>Согласовать средние и дисперсии каналов фото и референса. Сохраняет геометрию, но переносит в основном глобальный цвет.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7466" y="1975104"/>
            <a:ext cx="3356762" cy="2514600"/>
          </a:xfrm>
          <a:prstGeom prst="roundRect">
            <a:avLst>
              <a:gd name="adj" fmla="val 5090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1786" y="2249424"/>
            <a:ext cx="28081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Гистограмма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1786" y="2633472"/>
            <a:ext cx="2808122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20" b="0">
                <a:solidFill>
                  <a:srgbClr val="5B6070"/>
                </a:solidFill>
                <a:latin typeface="Helvetica Neue"/>
              </a:defRPr>
            </a:pPr>
            <a:r>
              <a:t>Переназначить распределение яркости или каналов. Не моделирует мазки и пространственную структуру стиля.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1972" y="1975104"/>
            <a:ext cx="3356762" cy="2514600"/>
          </a:xfrm>
          <a:prstGeom prst="roundRect">
            <a:avLst>
              <a:gd name="adj" fmla="val 5090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86292" y="2249424"/>
            <a:ext cx="28081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Текстурные фильтры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6292" y="2633472"/>
            <a:ext cx="2808122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20" b="0">
                <a:solidFill>
                  <a:srgbClr val="5B6070"/>
                </a:solidFill>
                <a:latin typeface="Helvetica Neue"/>
              </a:defRPr>
            </a:pPr>
            <a:r>
              <a:t>Смешивать отклики фильтров, частотные компоненты или текстурные патчи. Риск шума и разрушения объектов.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73168"/>
            <a:ext cx="3356762" cy="896112"/>
          </a:xfrm>
          <a:prstGeom prst="roundRect">
            <a:avLst>
              <a:gd name="adj" fmla="val 14285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4928616"/>
            <a:ext cx="284469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Дёшево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5330952"/>
            <a:ext cx="28446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по времени и ресурсам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17466" y="4773168"/>
            <a:ext cx="3356762" cy="896112"/>
          </a:xfrm>
          <a:prstGeom prst="roundRect">
            <a:avLst>
              <a:gd name="adj" fmla="val 14285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73498" y="4928616"/>
            <a:ext cx="284469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Наглядно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3498" y="5330952"/>
            <a:ext cx="28446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сильный baseline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11972" y="4773168"/>
            <a:ext cx="3356762" cy="896112"/>
          </a:xfrm>
          <a:prstGeom prst="roundRect">
            <a:avLst>
              <a:gd name="adj" fmla="val 14285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68004" y="4928616"/>
            <a:ext cx="284469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Ограниченно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8004" y="5330952"/>
            <a:ext cx="28446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нет глубокого понимания сцены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ПОДХОД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Оптимизационный Neural Style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Метод Gatys: стиль и содержание задаются признаками CNN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Итоговый проект · задача 13 · перенос стиля изображения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88820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1938528"/>
            <a:ext cx="5815583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15171C"/>
                </a:solidFill>
                <a:latin typeface="Helvetica Neue"/>
              </a:defRPr>
            </a:pPr>
            <a:r>
              <a:t>Зафиксировать предобученную CNN и вычислить признаки фото и стилевого референса.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24912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793492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2743200"/>
            <a:ext cx="5815583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15171C"/>
                </a:solidFill>
                <a:latin typeface="Helvetica Neue"/>
              </a:defRPr>
            </a:pPr>
            <a:r>
              <a:t>Сохранить признаки содержания на выбранном слое сети.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529584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598164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547872"/>
            <a:ext cx="5815583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15171C"/>
                </a:solidFill>
                <a:latin typeface="Helvetica Neue"/>
              </a:defRPr>
            </a:pPr>
            <a:r>
              <a:t>Сопоставить статистику признаков стиля, например матрицы Грама, на нескольких слоях.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334256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402836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352544"/>
            <a:ext cx="5815583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15171C"/>
                </a:solidFill>
                <a:latin typeface="Helvetica Neue"/>
              </a:defRPr>
            </a:pPr>
            <a:r>
              <a:t>Оптимизировать пиксели выходного изображения по взвешенной сумме потерь.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1993392"/>
            <a:ext cx="3822191" cy="1371600"/>
          </a:xfrm>
          <a:prstGeom prst="roundRect">
            <a:avLst>
              <a:gd name="adj" fmla="val 9333"/>
            </a:avLst>
          </a:prstGeom>
          <a:solidFill>
            <a:srgbClr val="E7EE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781544" y="2231136"/>
            <a:ext cx="50292" cy="896112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92440" y="2292858"/>
            <a:ext cx="2980944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00" b="0">
                <a:solidFill>
                  <a:srgbClr val="15171C"/>
                </a:solidFill>
                <a:latin typeface="Helvetica Neue"/>
              </a:defRPr>
            </a:pPr>
            <a:r>
              <a:t>L = λc · Lcontent + λs · Lstyle. Для каждого нового фото задача оптимизации запускается заново.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3474720"/>
            <a:ext cx="3822191" cy="1225296"/>
          </a:xfrm>
          <a:prstGeom prst="roundRect">
            <a:avLst>
              <a:gd name="adj" fmla="val 10447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781544" y="3712463"/>
            <a:ext cx="50292" cy="749808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92440" y="3745610"/>
            <a:ext cx="2980944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150" b="0">
                <a:solidFill>
                  <a:srgbClr val="5B6070"/>
                </a:solidFill>
                <a:latin typeface="Helvetica Neue"/>
              </a:defRPr>
            </a:pPr>
            <a:r>
              <a:t>Плюс: ясный baseline. Минус: медленная генерация и ручной подбор баланса содержания со стилем.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ПОДХОД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Feed-forward сети и 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Компромисс между скоростью, гибкостью и устойчивостью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Итоговый проект · задача 13 · перенос стиля изображения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38528"/>
            <a:ext cx="3356762" cy="2834640"/>
          </a:xfrm>
          <a:prstGeom prst="roundRect">
            <a:avLst>
              <a:gd name="adj" fmla="val 4516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212848"/>
            <a:ext cx="28081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Сеть под один стиль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96896"/>
            <a:ext cx="2808122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00" b="0">
                <a:solidFill>
                  <a:srgbClr val="5B6070"/>
                </a:solidFill>
                <a:latin typeface="Helvetica Neue"/>
              </a:defRPr>
            </a:pPr>
            <a:r>
              <a:t>Обучается на изображениях одного стиля и затем быстро преобразует фото. Высокая скорость, но отдельное обучение на стиль.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7466" y="1938528"/>
            <a:ext cx="3356762" cy="2834640"/>
          </a:xfrm>
          <a:prstGeom prst="roundRect">
            <a:avLst>
              <a:gd name="adj" fmla="val 4516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1786" y="2212848"/>
            <a:ext cx="28081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AdaIN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1786" y="2596896"/>
            <a:ext cx="2808122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00" b="0">
                <a:solidFill>
                  <a:srgbClr val="5B6070"/>
                </a:solidFill>
                <a:latin typeface="Helvetica Neue"/>
              </a:defRPr>
            </a:pPr>
            <a:r>
              <a:t>Сопоставляет среднее и дисперсию признаков содержания со статистиками стилевого изображения. Удобно меняет референс, но детали стиля могут упрощаться.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1972" y="1938528"/>
            <a:ext cx="3356762" cy="2834640"/>
          </a:xfrm>
          <a:prstGeom prst="roundRect">
            <a:avLst>
              <a:gd name="adj" fmla="val 4516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86292" y="2212848"/>
            <a:ext cx="28081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CycleGAN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6292" y="2596896"/>
            <a:ext cx="2808122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00" b="0">
                <a:solidFill>
                  <a:srgbClr val="5B6070"/>
                </a:solidFill>
                <a:latin typeface="Helvetica Neue"/>
              </a:defRPr>
            </a:pPr>
            <a:r>
              <a:t>Учится отображению между доменами без парных примеров через cycle-consistency. Сложно определить домены, стиль и содержание; возможны геометрические изменения.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47488"/>
            <a:ext cx="10545775" cy="1051560"/>
          </a:xfrm>
          <a:prstGeom prst="roundRect">
            <a:avLst>
              <a:gd name="adj" fmla="val 12173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60704" y="5285231"/>
            <a:ext cx="50292" cy="576071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0" y="5345430"/>
            <a:ext cx="9704527" cy="539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150" b="0">
                <a:solidFill>
                  <a:srgbClr val="5B6070"/>
                </a:solidFill>
                <a:latin typeface="Helvetica Neue"/>
              </a:defRPr>
            </a:pPr>
            <a:r>
              <a:t>Для проекта полезно включить готовый AdaIN или оптимизационный NST как нейросетевой baseline. GAN имеет смысл, если доступны достаточно представительные домены.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ПОДХОД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Диффузионная генерация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Модель учится убирать шум с изображения на разных шагах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Итоговый проект · задача 13 · перенос стиля изображения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88820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1938528"/>
            <a:ext cx="5907023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15171C"/>
                </a:solidFill>
                <a:latin typeface="Helvetica Neue"/>
              </a:defRPr>
            </a:pPr>
            <a:r>
              <a:t>В обучении постепенно зашумляем целевое изображение x₀ и выбираем шаг 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4320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811780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2761488"/>
            <a:ext cx="5907023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15171C"/>
                </a:solidFill>
                <a:latin typeface="Helvetica Neue"/>
              </a:defRPr>
            </a:pPr>
            <a:r>
              <a:t>Сеть получает xₜ, номер шага и условия задачи; предсказывает добавленный шум 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56616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634740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584448"/>
            <a:ext cx="5907023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15171C"/>
                </a:solidFill>
                <a:latin typeface="Helvetica Neue"/>
              </a:defRPr>
            </a:pPr>
            <a:r>
              <a:t>На инференсе начинаем с шума и многократно уточняем изображение по предсказанию сети.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1993392"/>
            <a:ext cx="3977639" cy="1417320"/>
          </a:xfrm>
          <a:prstGeom prst="roundRect">
            <a:avLst>
              <a:gd name="adj" fmla="val 9032"/>
            </a:avLst>
          </a:prstGeom>
          <a:solidFill>
            <a:srgbClr val="E7EE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644383" y="2231136"/>
            <a:ext cx="50292" cy="941832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79" y="2412746"/>
            <a:ext cx="3136391" cy="905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00" b="0">
                <a:solidFill>
                  <a:srgbClr val="5B6070"/>
                </a:solidFill>
                <a:latin typeface="Helvetica Neue"/>
              </a:defRPr>
            </a:pPr>
            <a:r>
              <a:t>xₜ = √ᾱₜ · x₀ + √(1 − ᾱₜ) · ε</a:t>
            </a:r>
          </a:p>
          <a:p>
            <a:pPr algn="l">
              <a:lnSpc>
                <a:spcPct val="130000"/>
              </a:lnSpc>
              <a:spcAft>
                <a:spcPts val="500"/>
              </a:spcAft>
              <a:defRPr sz="1300" b="0">
                <a:solidFill>
                  <a:srgbClr val="5B6070"/>
                </a:solidFill>
                <a:latin typeface="Helvetica Neue"/>
              </a:defRPr>
            </a:pPr>
            <a:r>
              <a:t>Lnoise = E[‖ε − εθ(xₜ, t, условия)‖²]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3593592"/>
            <a:ext cx="3977639" cy="1847088"/>
          </a:xfrm>
          <a:prstGeom prst="roundRect">
            <a:avLst>
              <a:gd name="adj" fmla="val 6930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644383" y="3831336"/>
            <a:ext cx="50292" cy="1371600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79" y="3922776"/>
            <a:ext cx="3136391" cy="1335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Сильная сторона — разнообразная и детальная генерация. Ограничения — вычислительная стоимость, задержка и риск изменить содержание без структурного условия.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ВЫБОР АРХИТЕКТУРЫ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Почему диффузионный трансформер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DiT заменяет U-Net в роли шумоподавляющей сети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Итоговый проект · задача 13 · перенос стиля изображения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47672"/>
            <a:ext cx="3356762" cy="256032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221991"/>
            <a:ext cx="28081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Изображение → токены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06039"/>
            <a:ext cx="2808122" cy="1645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20" b="0">
                <a:solidFill>
                  <a:srgbClr val="5B6070"/>
                </a:solidFill>
                <a:latin typeface="Helvetica Neue"/>
              </a:defRPr>
            </a:pPr>
            <a:r>
              <a:t>Латент разбивается на патчи; каждый патч преобразуется в токен с позиционной информацией.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7466" y="1947672"/>
            <a:ext cx="3356762" cy="256032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1786" y="2221991"/>
            <a:ext cx="28081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Transformer-блоки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1786" y="2606039"/>
            <a:ext cx="2808122" cy="1645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20" b="0">
                <a:solidFill>
                  <a:srgbClr val="5B6070"/>
                </a:solidFill>
                <a:latin typeface="Helvetica Neue"/>
              </a:defRPr>
            </a:pPr>
            <a:r>
              <a:t>Self-attention связывает удалённые области. Временной шаг и условия вводятся в блоки трансформера.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1972" y="1947672"/>
            <a:ext cx="3356762" cy="256032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86292" y="2221991"/>
            <a:ext cx="28081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Предсказание шума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6292" y="2606039"/>
            <a:ext cx="2808122" cy="1645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20" b="0">
                <a:solidFill>
                  <a:srgbClr val="5B6070"/>
                </a:solidFill>
                <a:latin typeface="Helvetica Neue"/>
              </a:defRPr>
            </a:pPr>
            <a:r>
              <a:t>Выходные токены переводятся обратно в латентную сетку и дают оценку шума на шаге 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36592"/>
            <a:ext cx="231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Свойство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8488" y="4736592"/>
            <a:ext cx="39503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U-Net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8611" y="4736592"/>
            <a:ext cx="39503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DiT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010912"/>
            <a:ext cx="10545775" cy="12801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5102352"/>
            <a:ext cx="231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Основная операция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8488" y="5102352"/>
            <a:ext cx="39503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Свёртки и масштабы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8611" y="5102352"/>
            <a:ext cx="39503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Внимание к токенам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5394960"/>
            <a:ext cx="10545775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468112"/>
            <a:ext cx="231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Контекст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8488" y="5468112"/>
            <a:ext cx="39503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Локальный + skip-связи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08611" y="5468112"/>
            <a:ext cx="39503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Глобальные связи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5760720"/>
            <a:ext cx="10545775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833872"/>
            <a:ext cx="231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Ресурсный риск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8488" y="5833872"/>
            <a:ext cx="39503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Зависит от карты признаков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08611" y="5833872"/>
            <a:ext cx="39503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Внимание растёт с числом токенов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НАШ МЕТОД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Предлагаемая схема: conditional latent 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Фото задаёт структуру, стилевой референс — художественные признаки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Итоговый проект · задача 13 · перенос стиля изображения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67712"/>
            <a:ext cx="1554480" cy="1261872"/>
          </a:xfrm>
          <a:prstGeom prst="roundRect">
            <a:avLst>
              <a:gd name="adj" fmla="val 10144"/>
            </a:avLst>
          </a:prstGeom>
          <a:solidFill>
            <a:srgbClr val="D7E3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  <a:defRPr sz="1250" b="1">
                <a:solidFill>
                  <a:srgbClr val="0B57D0"/>
                </a:solidFill>
                <a:latin typeface="Helvetica Neue"/>
              </a:defRPr>
            </a:pPr>
            <a:r>
              <a:t>Фото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  <a:defRPr sz="1050" b="0">
                <a:solidFill>
                  <a:srgbClr val="5B6070"/>
                </a:solidFill>
                <a:latin typeface="Helvetica Neue"/>
              </a:defRPr>
            </a:pPr>
            <a:r>
              <a:t>содержание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0300" y="2679192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  <a:defRPr sz="1500" b="1">
                <a:solidFill>
                  <a:srgbClr val="5B6070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8608" y="2267712"/>
            <a:ext cx="1554480" cy="1261872"/>
          </a:xfrm>
          <a:prstGeom prst="roundRect">
            <a:avLst>
              <a:gd name="adj" fmla="val 10144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70048" y="25420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  <a:defRPr sz="1250" b="1">
                <a:solidFill>
                  <a:srgbClr val="0B57D0"/>
                </a:solidFill>
                <a:latin typeface="Helvetica Neue"/>
              </a:defRPr>
            </a:pPr>
            <a:r>
              <a:t>VAE encoder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0048" y="2926080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  <a:defRPr sz="1050" b="0">
                <a:solidFill>
                  <a:srgbClr val="5B6070"/>
                </a:solidFill>
                <a:latin typeface="Helvetica Neue"/>
              </a:defRPr>
            </a:pPr>
            <a:r>
              <a:t>zcontent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55948" y="2679192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  <a:defRPr sz="1500" b="1">
                <a:solidFill>
                  <a:srgbClr val="5B6070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2267712"/>
            <a:ext cx="1554480" cy="1261872"/>
          </a:xfrm>
          <a:prstGeom prst="roundRect">
            <a:avLst>
              <a:gd name="adj" fmla="val 10144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25696" y="25420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  <a:defRPr sz="1250" b="1">
                <a:solidFill>
                  <a:srgbClr val="0B57D0"/>
                </a:solidFill>
                <a:latin typeface="Helvetica Neue"/>
              </a:defRPr>
            </a:pPr>
            <a:r>
              <a:t>Шум zₜ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2926080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  <a:defRPr sz="1050" b="0">
                <a:solidFill>
                  <a:srgbClr val="5B6070"/>
                </a:solidFill>
                <a:latin typeface="Helvetica Neue"/>
              </a:defRPr>
            </a:pPr>
            <a:r>
              <a:t>целевая сетка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11596" y="2679192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  <a:defRPr sz="1500" b="1">
                <a:solidFill>
                  <a:srgbClr val="5B6070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2267712"/>
            <a:ext cx="1554480" cy="1261872"/>
          </a:xfrm>
          <a:prstGeom prst="roundRect">
            <a:avLst>
              <a:gd name="adj" fmla="val 10144"/>
            </a:avLst>
          </a:prstGeom>
          <a:solidFill>
            <a:srgbClr val="E7EE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81344" y="25420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  <a:defRPr sz="1250" b="1">
                <a:solidFill>
                  <a:srgbClr val="0B57D0"/>
                </a:solidFill>
                <a:latin typeface="Helvetica Neue"/>
              </a:defRPr>
            </a:pPr>
            <a:r>
              <a:t>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2926080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  <a:defRPr sz="1050" b="0">
                <a:solidFill>
                  <a:srgbClr val="5B6070"/>
                </a:solidFill>
                <a:latin typeface="Helvetica Neue"/>
              </a:defRPr>
            </a:pPr>
            <a:r>
              <a:t>шаг t + условия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7244" y="2679192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  <a:defRPr sz="1500" b="1">
                <a:solidFill>
                  <a:srgbClr val="5B6070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45552" y="2267712"/>
            <a:ext cx="1554480" cy="1261872"/>
          </a:xfrm>
          <a:prstGeom prst="roundRect">
            <a:avLst>
              <a:gd name="adj" fmla="val 10144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36992" y="25420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  <a:defRPr sz="1250" b="1">
                <a:solidFill>
                  <a:srgbClr val="B3541E"/>
                </a:solidFill>
                <a:latin typeface="Helvetica Neue"/>
              </a:defRPr>
            </a:pPr>
            <a:r>
              <a:t>VAE decoder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2926080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  <a:defRPr sz="1050" b="0">
                <a:solidFill>
                  <a:srgbClr val="5B6070"/>
                </a:solidFill>
                <a:latin typeface="Helvetica Neue"/>
              </a:defRPr>
            </a:pPr>
            <a:r>
              <a:t>картинка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2892" y="2679192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  <a:defRPr sz="1500" b="1">
                <a:solidFill>
                  <a:srgbClr val="5B6070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2267712"/>
            <a:ext cx="1554480" cy="1261872"/>
          </a:xfrm>
          <a:prstGeom prst="roundRect">
            <a:avLst>
              <a:gd name="adj" fmla="val 10144"/>
            </a:avLst>
          </a:prstGeom>
          <a:solidFill>
            <a:srgbClr val="F3E5D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92640" y="25420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  <a:defRPr sz="1250" b="1">
                <a:solidFill>
                  <a:srgbClr val="B3541E"/>
                </a:solidFill>
                <a:latin typeface="Helvetica Neue"/>
              </a:defRPr>
            </a:pPr>
            <a:r>
              <a:t>Результат 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926080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  <a:defRPr sz="1050" b="0">
                <a:solidFill>
                  <a:srgbClr val="5B6070"/>
                </a:solidFill>
                <a:latin typeface="Helvetica Neue"/>
              </a:defRPr>
            </a:pPr>
            <a:r>
              <a:t>стиль S + 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3822191"/>
            <a:ext cx="10545775" cy="1078992"/>
          </a:xfrm>
          <a:prstGeom prst="roundRect">
            <a:avLst>
              <a:gd name="adj" fmla="val 11864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60704" y="4059935"/>
            <a:ext cx="50292" cy="603503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71600" y="4114038"/>
            <a:ext cx="9704527" cy="566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250" b="0">
                <a:solidFill>
                  <a:srgbClr val="5B6070"/>
                </a:solidFill>
                <a:latin typeface="Helvetica Neue"/>
              </a:defRPr>
            </a:pPr>
            <a:r>
              <a:t>Стилевой референс S кодируется отдельным encoder в набор стилевых токенов. Cross-attention передаёт их DiT на нескольких блоках; латент фото подаётся как структурное условие.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5120640"/>
            <a:ext cx="10545775" cy="896112"/>
          </a:xfrm>
          <a:prstGeom prst="roundRect">
            <a:avLst>
              <a:gd name="adj" fmla="val 14285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60704" y="5358383"/>
            <a:ext cx="50292" cy="420623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371600" y="5464682"/>
            <a:ext cx="9704527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050" b="0">
                <a:solidFill>
                  <a:srgbClr val="5B6070"/>
                </a:solidFill>
                <a:latin typeface="Helvetica Neue"/>
              </a:defRPr>
            </a:pPr>
            <a:r>
              <a:t>Фото: cross-attention к латенту содержания. Стиль: токены референса. Старт: предобученный latent DiT + LoRA; VAE заморожен.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ЭКСПЕРИМЕНТАЛЬНЫЙ ПЛАН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Данные и обучение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Ключевой вопрос: откуда берутся примеры фото → стилизованный результат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Итоговый проект · задача 13 · перенос стиля изображения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56816"/>
            <a:ext cx="3356762" cy="2468880"/>
          </a:xfrm>
          <a:prstGeom prst="roundRect">
            <a:avLst>
              <a:gd name="adj" fmla="val 5185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231136"/>
            <a:ext cx="28081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Примеры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15184"/>
            <a:ext cx="280812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260" b="0">
                <a:solidFill>
                  <a:srgbClr val="5B6070"/>
                </a:solidFill>
                <a:latin typeface="Helvetica Neue"/>
              </a:defRPr>
            </a:pPr>
            <a:r>
              <a:t>Фото содержания C, референс стиля S и целевое Y в выбранном стиле. Разделять train/test по исходным фото и авторам стиля.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7466" y="1956816"/>
            <a:ext cx="3356762" cy="2468880"/>
          </a:xfrm>
          <a:prstGeom prst="roundRect">
            <a:avLst>
              <a:gd name="adj" fmla="val 5185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1786" y="2231136"/>
            <a:ext cx="28081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Если нет пар 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1786" y="2615184"/>
            <a:ext cx="280812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260" b="0">
                <a:solidFill>
                  <a:srgbClr val="5B6070"/>
                </a:solidFill>
                <a:latin typeface="Helvetica Neue"/>
              </a:defRPr>
            </a:pPr>
            <a:r>
              <a:t>Получить стартовые псевдоцели оптимизационным NST или готовым stylizer, затем проверить вручную и дообучить условную модель.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1972" y="1956816"/>
            <a:ext cx="3356762" cy="2468880"/>
          </a:xfrm>
          <a:prstGeom prst="roundRect">
            <a:avLst>
              <a:gd name="adj" fmla="val 5185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86292" y="2231136"/>
            <a:ext cx="28081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Шаги обучения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6292" y="2615184"/>
            <a:ext cx="280812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260" b="0">
                <a:solidFill>
                  <a:srgbClr val="5B6070"/>
                </a:solidFill>
                <a:latin typeface="Helvetica Neue"/>
              </a:defRPr>
            </a:pPr>
            <a:r>
              <a:t>Закодировать Y в латент, зашумить на случайном t, подать zcontent и стиль S, обновить DiT по шумовой потере.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535424"/>
            <a:ext cx="10545775" cy="749808"/>
          </a:xfrm>
          <a:prstGeom prst="roundRect">
            <a:avLst>
              <a:gd name="adj" fmla="val 17073"/>
            </a:avLst>
          </a:prstGeom>
          <a:solidFill>
            <a:srgbClr val="E7EE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60704" y="4773168"/>
            <a:ext cx="50292" cy="274319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0" y="4811268"/>
            <a:ext cx="9704527" cy="2377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L = Lnoise + λc Lcontent + λs Lstyle; веса выбираются по валидации.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367528"/>
            <a:ext cx="10545775" cy="841248"/>
          </a:xfrm>
          <a:prstGeom prst="roundRect">
            <a:avLst>
              <a:gd name="adj" fmla="val 15217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60704" y="5605272"/>
            <a:ext cx="50292" cy="365760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71600" y="5694045"/>
            <a:ext cx="970452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950" b="0">
                <a:solidFill>
                  <a:srgbClr val="5B6070"/>
                </a:solidFill>
                <a:latin typeface="Helvetica Neue"/>
              </a:defRPr>
            </a:pPr>
            <a:r>
              <a:t>Проверить GPU и лицензии. Если ресурсов мало, уменьшить разрешение/модель или обучать LoRA.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ОЦЕНКА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План сравнения и метрики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Измеряем стиль, сохранение содержания и цену генерации отдельно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Итоговый проект · задача 13 · перенос стиля изображения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89396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Критерий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26657" y="1965960"/>
            <a:ext cx="44249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Что показывает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1340" y="1965960"/>
            <a:ext cx="38976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Возможная оценка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240279"/>
            <a:ext cx="10545775" cy="12801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189396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Содержание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6657" y="2331720"/>
            <a:ext cx="44249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Сохранены ли объекты и структура фото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1340" y="2331720"/>
            <a:ext cx="38976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LPIPS / SSIM к входному фото; экспертная оценка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852927"/>
            <a:ext cx="10545775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926079"/>
            <a:ext cx="189396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Стиль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6657" y="2926079"/>
            <a:ext cx="44249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Насколько результат похож на референс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1340" y="2926079"/>
            <a:ext cx="38976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Gram/VGG style loss; CLIP similarity; экспертная оценка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447287"/>
            <a:ext cx="10545775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520439"/>
            <a:ext cx="189396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Визуальное качество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26657" y="3520439"/>
            <a:ext cx="44249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Артефакты, детали, естественность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1340" y="3520439"/>
            <a:ext cx="38976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Слепое попарное сравнение людьми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041648"/>
            <a:ext cx="10545775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114800"/>
            <a:ext cx="189396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Эффективность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26657" y="4114800"/>
            <a:ext cx="44249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Стоимость применения метода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1340" y="4114800"/>
            <a:ext cx="38976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Время, память, число шагов при одинаковом размере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138928"/>
            <a:ext cx="10545775" cy="1051560"/>
          </a:xfrm>
          <a:prstGeom prst="roundRect">
            <a:avLst>
              <a:gd name="adj" fmla="val 12173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60704" y="5376672"/>
            <a:ext cx="50292" cy="576071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371600" y="5436870"/>
            <a:ext cx="9704527" cy="539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150" b="0">
                <a:solidFill>
                  <a:srgbClr val="5B6070"/>
                </a:solidFill>
                <a:latin typeface="Helvetica Neue"/>
              </a:defRPr>
            </a:pPr>
            <a:r>
              <a:t>Сравнить: цветовой baseline, Gatys NST, AdaIN и conditional DiT. Один и тот же набор фото и стилей; отдельно показать случаи с невиданными фото и стилями.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КОНТРОЛЬ ЭКСПЕРИМЕНТА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Риски и критерии успеха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Что может помешать переносу и как это заметить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Итоговый проект · задача 13 · перенос стиля изображения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75104"/>
            <a:ext cx="2499283" cy="2606040"/>
          </a:xfrm>
          <a:prstGeom prst="roundRect">
            <a:avLst>
              <a:gd name="adj" fmla="val 5122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249424"/>
            <a:ext cx="195064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Теряется содержание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33472"/>
            <a:ext cx="1950643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250" b="0">
                <a:solidFill>
                  <a:srgbClr val="5B6070"/>
                </a:solidFill>
                <a:latin typeface="Helvetica Neue"/>
              </a:defRPr>
            </a:pPr>
            <a:r>
              <a:t>Проверить LPIPS/SSIM и структуру; усилить условие фото или content loss.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5123" y="1975104"/>
            <a:ext cx="2499283" cy="2606040"/>
          </a:xfrm>
          <a:prstGeom prst="roundRect">
            <a:avLst>
              <a:gd name="adj" fmla="val 5122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79443" y="2249424"/>
            <a:ext cx="195064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Слабый стиль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9443" y="2633472"/>
            <a:ext cx="1950643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250" b="0">
                <a:solidFill>
                  <a:srgbClr val="5B6070"/>
                </a:solidFill>
                <a:latin typeface="Helvetica Neue"/>
              </a:defRPr>
            </a:pPr>
            <a:r>
              <a:t>Проверить style encoder и выбор слоёв; показать несколько референсов и силу переноса.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7287" y="1975104"/>
            <a:ext cx="2499283" cy="2606040"/>
          </a:xfrm>
          <a:prstGeom prst="roundRect">
            <a:avLst>
              <a:gd name="adj" fmla="val 5122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1607" y="2249424"/>
            <a:ext cx="195064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Недостаточно данных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1607" y="2633472"/>
            <a:ext cx="1950643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250" b="0">
                <a:solidFill>
                  <a:srgbClr val="5B6070"/>
                </a:solidFill>
                <a:latin typeface="Helvetica Neue"/>
              </a:defRPr>
            </a:pPr>
            <a:r>
              <a:t>Начать с малого набора стилей и transfer learning; исключить утечку фото между выборками.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451" y="1975104"/>
            <a:ext cx="2499283" cy="2606040"/>
          </a:xfrm>
          <a:prstGeom prst="roundRect">
            <a:avLst>
              <a:gd name="adj" fmla="val 5122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3770" y="2135997"/>
            <a:ext cx="195064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rPr dirty="0" err="1"/>
              <a:t>Слишком</a:t>
            </a:r>
            <a:r>
              <a:rPr dirty="0"/>
              <a:t> </a:t>
            </a:r>
            <a:r>
              <a:rPr dirty="0" err="1"/>
              <a:t>дорогая</a:t>
            </a:r>
            <a:r>
              <a:rPr dirty="0"/>
              <a:t> </a:t>
            </a:r>
            <a:r>
              <a:rPr dirty="0" err="1"/>
              <a:t>генерация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9143771" y="2633472"/>
            <a:ext cx="1950643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250" b="0">
                <a:solidFill>
                  <a:srgbClr val="5B6070"/>
                </a:solidFill>
                <a:latin typeface="Helvetica Neue"/>
              </a:defRPr>
            </a:pPr>
            <a:r>
              <a:t>Работать в latent space, применять меньше шагов и малую модель; измерять качество вместе со временем.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846320"/>
            <a:ext cx="3356762" cy="914400"/>
          </a:xfrm>
          <a:prstGeom prst="roundRect">
            <a:avLst>
              <a:gd name="adj" fmla="val 14000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8992" y="5010912"/>
            <a:ext cx="284469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Содержание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5413248"/>
            <a:ext cx="28446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композиция и объекты сохранены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7466" y="4846320"/>
            <a:ext cx="3356762" cy="914400"/>
          </a:xfrm>
          <a:prstGeom prst="roundRect">
            <a:avLst>
              <a:gd name="adj" fmla="val 14000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73498" y="5010912"/>
            <a:ext cx="284469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Стиль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3498" y="5413248"/>
            <a:ext cx="28446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характер референса заметен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1972" y="4846320"/>
            <a:ext cx="3356762" cy="914400"/>
          </a:xfrm>
          <a:prstGeom prst="roundRect">
            <a:avLst>
              <a:gd name="adj" fmla="val 14000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68004" y="5010912"/>
            <a:ext cx="284469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Повторяемость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8004" y="5413248"/>
            <a:ext cx="28446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одинаковые настройки и выборки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ИТОГ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Итоговый план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Выбор DiT — это проверяемая гипотеза, а не заранее заявленный результат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Итоговый проект · задача 13 · перенос стиля изображения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01952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70532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1920240"/>
            <a:ext cx="6044183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50" b="0">
                <a:solidFill>
                  <a:srgbClr val="15171C"/>
                </a:solidFill>
                <a:latin typeface="Helvetica Neue"/>
              </a:defRPr>
            </a:pPr>
            <a:r>
              <a:t>Собрать фото и стилевые референсы.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69464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638044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2587752"/>
            <a:ext cx="6044183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50" b="0">
                <a:solidFill>
                  <a:srgbClr val="15171C"/>
                </a:solidFill>
                <a:latin typeface="Helvetica Neue"/>
              </a:defRPr>
            </a:pPr>
            <a:r>
              <a:t>Зафиксировать baseline: палитра и AdaIN или Gatys NST.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236976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305556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255264"/>
            <a:ext cx="6044183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50" b="0">
                <a:solidFill>
                  <a:srgbClr val="15171C"/>
                </a:solidFill>
                <a:latin typeface="Helvetica Neue"/>
              </a:defRPr>
            </a:pPr>
            <a:r>
              <a:t>Подключить latent DiT с условиями фото и референса.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904487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973068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922775"/>
            <a:ext cx="6044183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50" b="0">
                <a:solidFill>
                  <a:srgbClr val="15171C"/>
                </a:solidFill>
                <a:latin typeface="Helvetica Neue"/>
              </a:defRPr>
            </a:pPr>
            <a:r>
              <a:t>Сравнить качество, скорость и влияние условий.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2084831"/>
            <a:ext cx="3639312" cy="1810512"/>
          </a:xfrm>
          <a:prstGeom prst="roundRect">
            <a:avLst>
              <a:gd name="adj" fmla="val 7070"/>
            </a:avLst>
          </a:prstGeom>
          <a:solidFill>
            <a:srgbClr val="E7EE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964423" y="2322576"/>
            <a:ext cx="50292" cy="1335024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19" y="2395727"/>
            <a:ext cx="2798064" cy="1298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Критически важно: vanilla DiT не умеет переносить стиль только благодаря архитектуре. Нужны стилевое условие, подходящие данные и честный baseline.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4005072"/>
            <a:ext cx="3639312" cy="1810512"/>
          </a:xfrm>
          <a:prstGeom prst="roundRect">
            <a:avLst>
              <a:gd name="adj" fmla="val 7070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964423" y="4242816"/>
            <a:ext cx="50292" cy="1335024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75319" y="4340733"/>
            <a:ext cx="2798064" cy="1298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150" b="0">
                <a:solidFill>
                  <a:srgbClr val="5B6070"/>
                </a:solidFill>
                <a:latin typeface="Helvetica Neue"/>
              </a:defRPr>
            </a:pPr>
            <a:r>
              <a:t>Главный результат защиты — не только красивые примеры, но и воспроизводимое сравнение: что сохранилось от фото, что пришло от стиля и какой ценой.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1337</Words>
  <Application>Microsoft Macintosh PowerPoint</Application>
  <PresentationFormat>Widescreen</PresentationFormat>
  <Paragraphs>207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2026-10-03T10:50:43Z</dcterms:modified>
  <cp:category/>
</cp:coreProperties>
</file>