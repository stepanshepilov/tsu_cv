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532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60"/>
              <a:t>ЛАБОРАТОРНАЯ РАБОТА 6 · ВАРИАНТ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532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Классификация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изображений одежды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77056"/>
            <a:ext cx="5532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Fashion-MNIST на PyTorch: SVM против CNN,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L2-регуляризация, Dropout и матрицы ошибок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42432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Компьютерное зрение · PyTorch · scikit-learn · seaborn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3" y="2545689"/>
            <a:ext cx="4645152" cy="1858061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Задание варианта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пунктов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59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07568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Построить классификатор SVM для Fashion-MNIST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60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1576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Реализовать CNN и обучить её на тех же данных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35584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Сравнить время обучения и точность SVM и CNN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462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95927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Сравнить CNN с L2-регуляризацией и с Dropout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863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636007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Построить confusion matrix для двух CNN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2011680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2191512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10000 / 2000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2593848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изображений на обучение и тест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194304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5" y="3374136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15 эпохи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3776472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на каждую CNN, батч 128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376928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4556760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CPU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4959096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воспроизводимый учебный запуск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Fashion-MNIST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28 × 28 пикселей, оттенки серого, десять классов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03</a:t>
            </a:r>
          </a:p>
        </p:txBody>
      </p:sp>
      <p:pic>
        <p:nvPicPr>
          <p:cNvPr id="7" name="Picture 6" descr="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1284732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3497579"/>
            <a:ext cx="5152644" cy="932688"/>
          </a:xfrm>
          <a:prstGeom prst="roundRect">
            <a:avLst>
              <a:gd name="adj" fmla="val 1372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671315"/>
            <a:ext cx="46405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 классов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73652"/>
            <a:ext cx="46405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T-shirt/top · Trouser · Pullover · Dress · Coat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3348" y="3497579"/>
            <a:ext cx="5152644" cy="932688"/>
          </a:xfrm>
          <a:prstGeom prst="roundRect">
            <a:avLst>
              <a:gd name="adj" fmla="val 1372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9380" y="3671315"/>
            <a:ext cx="46405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28 ×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4073652"/>
            <a:ext cx="46405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Sandal · Shirt · Sneaker · Bag · Ankle boot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86300"/>
            <a:ext cx="10543032" cy="1046988"/>
          </a:xfrm>
          <a:prstGeom prst="roundRect">
            <a:avLst>
              <a:gd name="adj" fmla="val 1222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0704" y="4924044"/>
            <a:ext cx="50292" cy="57150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942332"/>
            <a:ext cx="9701784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Ноутбук скачивает IDX-архивы с зеркала Fashion-MNIST и распаковывает их через gzip, без torchvision: загрузка не зависит от системных расширений. Пиксели делятся на 255, метки — целые числа от 0 до 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Две модели и две регуляризации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именно сравнивается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Linear 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96896"/>
            <a:ext cx="2807208" cy="159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Изображение разворачивается в вектор из 784 признаков, и модель ищет разделяющую гиперплоскость с максимальным зазором. Быстрый и понятный базовый результат.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38528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212848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96896"/>
            <a:ext cx="2807208" cy="159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Свёртки сохраняют двумерную структуру и учатся находить края, текстуры и части объектов; MaxPool делает признаки устойчивее к небольшим сдвигам.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938528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212848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L2 против Dropout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96896"/>
            <a:ext cx="2807208" cy="159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L2 добавляет к потерям штраф λ·Σw² и плавно ограничивает большие веса. Dropout при обучении случайно зануляет часть активаций, создавая ансамбль случайных подмоделей.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43907"/>
            <a:ext cx="10543032" cy="1146048"/>
          </a:xfrm>
          <a:prstGeom prst="roundRect">
            <a:avLst>
              <a:gd name="adj" fmla="val 1117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" y="4981651"/>
            <a:ext cx="50292" cy="67056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999939"/>
            <a:ext cx="9701784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600" b="0">
                <a:solidFill>
                  <a:srgbClr val="5B6070"/>
                </a:solidFill>
                <a:latin typeface="Helvetica Neue"/>
              </a:defRPr>
            </a:pPr>
            <a:r>
              <a:t>Обе регуляризованные модели имеют одинаковую архитектуру и одинаковый режим обучения, поэтому сравнивается именно способ регуляризации, а не сеть.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Архитектура сети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Две свёртки, два пулинга, два полносвязных слоя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6903720" cy="1261668"/>
          </a:xfrm>
          <a:prstGeom prst="roundRect">
            <a:avLst>
              <a:gd name="adj" fmla="val 1014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31136"/>
            <a:ext cx="50292" cy="822756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249424"/>
            <a:ext cx="6245352" cy="78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Conv2d(1 → 32, 3×3)  →  ReLU  →  MaxPool(2)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Conv2d(32 → 64, 3×3) →  ReLU  →  MaxPool(2)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Flatten → Linear(64·7·7 → 128) → ReLU → Linear(128 → 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2011680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5" y="2191512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450" b="1">
                <a:solidFill>
                  <a:srgbClr val="0B57D0"/>
                </a:solidFill>
                <a:latin typeface="Helvetica Neue"/>
              </a:defRPr>
            </a:pPr>
            <a:r>
              <a:t>CrossEntropyLoss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5" y="2593848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принимает сырые logits — softmax не нужен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3194304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3374136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Adam, lr = 1e-3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3776472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оптимизатор и шаг обучения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4376928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4465320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model.eval()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4867656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перед подсчётом accuracy Dropout выключается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474720"/>
            <a:ext cx="6903720" cy="1794256"/>
          </a:xfrm>
          <a:prstGeom prst="roundRect">
            <a:avLst>
              <a:gd name="adj" fmla="val 713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694176"/>
            <a:ext cx="50292" cy="1355344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3712463"/>
            <a:ext cx="6245352" cy="1318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for values, targets in train_loader: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optimizer.zero_grad()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loss = criterion(model(values), targets)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loss.backward()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optimizer.step()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Результаты эксперимента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Подвыборки Fashion-MNIST, 15 эпох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06</a:t>
            </a:r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78892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983480"/>
            <a:ext cx="10543032" cy="779526"/>
          </a:xfrm>
          <a:prstGeom prst="roundRect">
            <a:avLst>
              <a:gd name="adj" fmla="val 16422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0704" y="5221224"/>
            <a:ext cx="50292" cy="304038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239512"/>
            <a:ext cx="9701784" cy="267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Базовая CNN обошла SVM и по точности (0.8965 против 0.8190), и по времени обучения (30.53 с против 4.75 с).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Обучение по эпохам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Сравнение accuracy на тестовой выборке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07</a:t>
            </a:r>
          </a:p>
        </p:txBody>
      </p:sp>
      <p:pic>
        <p:nvPicPr>
          <p:cNvPr id="7" name="Picture 6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38928" cy="288036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6227064" y="1965960"/>
            <a:ext cx="5138928" cy="801623"/>
          </a:xfrm>
          <a:prstGeom prst="roundRect">
            <a:avLst>
              <a:gd name="adj" fmla="val 1596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2074163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0.8995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2476499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CNN + L2: weight_decay = 1e-4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3005328"/>
            <a:ext cx="5138928" cy="801623"/>
          </a:xfrm>
          <a:prstGeom prst="roundRect">
            <a:avLst>
              <a:gd name="adj" fmla="val 1596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3113532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0.9010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3515868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CNN + Dropout: p = 0.25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4044696"/>
            <a:ext cx="5138928" cy="801623"/>
          </a:xfrm>
          <a:prstGeom prst="roundRect">
            <a:avLst>
              <a:gd name="adj" fmla="val 1596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4152900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0.8965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4555236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базовая CNN без регуляризации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02352"/>
            <a:ext cx="10543032" cy="1046988"/>
          </a:xfrm>
          <a:prstGeom prst="roundRect">
            <a:avLst>
              <a:gd name="adj" fmla="val 1222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0704" y="5340096"/>
            <a:ext cx="50292" cy="57150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358384"/>
            <a:ext cx="9701784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Меньшая accuracy не означает, что регуляризация бесполезна: за две эпохи переобучение ещё не наступило, а штраф за большие веса и зануление активаций только замедляют подгонку.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Разбор по классам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Linear SVM: обувь и сумки даются легко, верхняя одежда — 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08</a:t>
            </a:r>
          </a:p>
        </p:txBody>
      </p:sp>
      <p:pic>
        <p:nvPicPr>
          <p:cNvPr id="7" name="Picture 6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720840" cy="370332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7882127" y="1965960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2135124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53746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лучший класс: Ankle boot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127248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3296412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6987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худший класс: Shirt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4288536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445769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860036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macro avg F1 по десяти классам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97296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Shirt, T-shirt/top, Pullover и Coat имеют похожие силуэты, и линейная граница по сырым пикселям их не разделяет.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Матрицы ошибок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Строки — истинные классы, столбцы — предсказанные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09</a:t>
            </a:r>
          </a:p>
        </p:txBody>
      </p:sp>
      <p:pic>
        <p:nvPicPr>
          <p:cNvPr id="7" name="Picture 6" descr="notebook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83664"/>
            <a:ext cx="10543032" cy="391219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5997025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0 T-shirt/top · 1 Trouser · 2 Pullover · 3 Dress · 4 Coat · 5 Sandal · 6 Shirt · 7 Sneaker · 8 Bag · 9 Ankle boot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Как читать матрицы ошибок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Строки — истинные классы, столбцы — предсказанные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0543032" cy="1463040"/>
          </a:xfrm>
          <a:prstGeom prst="roundRect">
            <a:avLst>
              <a:gd name="adj" fmla="val 875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0704" y="2386584"/>
            <a:ext cx="50292" cy="98755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04872"/>
            <a:ext cx="9701784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600" b="0">
                <a:solidFill>
                  <a:srgbClr val="5B6070"/>
                </a:solidFill>
                <a:latin typeface="Helvetica Neue"/>
              </a:defRPr>
            </a:pPr>
            <a:r>
              <a:t>Диагональ показывает верные предсказания, значения вне диагонали — ошибки по конкретным парам классов. Обе матрицы взяты из фактического выполнения ноутбука на тестовой подвыборке из 2 000 изображений.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Ответы по материалу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227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Что такое задача классификации изображений?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03526"/>
            <a:ext cx="5042916" cy="116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Определение класса, к которому относится входное изображение, — здесь вида одежды из десяти возможных.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98342"/>
            <a:ext cx="5042916" cy="227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Чем отличаются kNN, SVM и Random Forest?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0188"/>
            <a:ext cx="5042916" cy="116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kNN хранит обучающие объекты и голосует по ближайшим; SVM строит границу с максимальным зазором; Random Forest усредняет предсказания множества деревьев решений.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85004"/>
            <a:ext cx="5042916" cy="227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В чём преимущества CNN?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76850"/>
            <a:ext cx="5042916" cy="116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Она сама извлекает признаки, учитывает локальность и пространственную структуру и переиспользует веса свёрточных ядер — для изображений это работает лучше, чем плоский вектор пикселей.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27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Что такое confusion matrix?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303526"/>
            <a:ext cx="5042916" cy="116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Таблица соответствий истинных и предсказанных классов: диагональ показывает правильные ответы, остальные клетки — типы ошибок.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498342"/>
            <a:ext cx="5042916" cy="227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5171C"/>
                </a:solidFill>
                <a:latin typeface="Helvetica Neue"/>
              </a:defRPr>
            </a:pPr>
            <a:r>
              <a:t>Какие метрики используются кроме Accuracy?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790188"/>
            <a:ext cx="5042916" cy="1167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50" b="0">
                <a:solidFill>
                  <a:srgbClr val="5B6070"/>
                </a:solidFill>
                <a:latin typeface="Helvetica Neue"/>
              </a:defRPr>
            </a:pPr>
            <a:r>
              <a:t>Precision, Recall, F1-score, ROC-AUC, а для многоклассовых задач ещё macro-, micro- и weighted-усреднения.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выполнено в ноутбуке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6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011680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Linear SVM на 784 признаках дал accuracy 0.8190 за 4.75 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511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459736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CNN из двух свёрточных блоков — 0.8965 за 30.53 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99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907792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CNN + L2 (weight_decay = 1e-4) — 0.8995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472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355848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CNN + Dropout (p = 0.5) — 0.9010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953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03904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Построены и разобраны матрицы ошибок обеих регуляризованных сетей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43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251960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Для воспроизводимого CPU-запуска взяты подвыборки 10 000 / 2 000, обучение — 15 эпох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84064"/>
            <a:ext cx="105430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  <a:defRPr sz="1600" b="1">
                <a:solidFill>
                  <a:srgbClr val="0B57D0"/>
                </a:solidFill>
                <a:latin typeface="Helvetica Neue"/>
              </a:defRPr>
            </a:pPr>
            <a:r>
              <a:t>Accuracy показывает, сколько ошибок сделала модель, а confusion matrix — какие именно: обе сети путают одежду с похожим силуэтом и почти не ошибаются на обуви и сумках.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