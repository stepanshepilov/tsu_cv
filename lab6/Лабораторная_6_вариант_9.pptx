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Классификация изображений на PyTorch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Fashion-MNIST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01</a:t>
            </a:r>
          </a:p>
        </p:txBody>
      </p:sp>
      <p:pic>
        <p:nvPicPr>
          <p:cNvPr id="5" name="Picture 4" descr="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097280"/>
            <a:ext cx="429768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82880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300" b="1">
                <a:solidFill>
                  <a:srgbClr val="0E7490"/>
                </a:solidFill>
                <a:latin typeface="Aptos"/>
              </a:defRPr>
            </a:pPr>
            <a:r>
              <a:t>SVM · CNN · L2-регуляризация · Dropout</a:t>
            </a:r>
          </a:p>
          <a:p>
            <a:pPr algn="l">
              <a:spcAft>
                <a:spcPts val="500"/>
              </a:spcAft>
              <a:defRPr sz="2300" b="1">
                <a:solidFill>
                  <a:srgbClr val="0E7490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300" b="1">
                <a:solidFill>
                  <a:srgbClr val="0E7490"/>
                </a:solidFill>
                <a:latin typeface="Aptos"/>
              </a:defRPr>
            </a:pPr>
            <a:r>
              <a:t>Сравниваем не только accuracy, но и тип ошибок через confusion matrix.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Задание варианта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Пять этапов эксперимента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400" b="0">
                <a:solidFill>
                  <a:srgbClr val="162536"/>
                </a:solidFill>
                <a:latin typeface="Aptos"/>
              </a:defRPr>
            </a:pPr>
            <a:r>
              <a:t>1. SVM для Fashion-MNIST</a:t>
            </a:r>
          </a:p>
          <a:p>
            <a:pPr algn="l">
              <a:spcAft>
                <a:spcPts val="500"/>
              </a:spcAft>
              <a:defRPr sz="2400" b="0">
                <a:solidFill>
                  <a:srgbClr val="162536"/>
                </a:solidFill>
                <a:latin typeface="Aptos"/>
              </a:defRPr>
            </a:pPr>
            <a:r>
              <a:t>2. CNN на тех же данных</a:t>
            </a:r>
          </a:p>
          <a:p>
            <a:pPr algn="l">
              <a:spcAft>
                <a:spcPts val="500"/>
              </a:spcAft>
              <a:defRPr sz="2400" b="0">
                <a:solidFill>
                  <a:srgbClr val="162536"/>
                </a:solidFill>
                <a:latin typeface="Aptos"/>
              </a:defRPr>
            </a:pPr>
            <a:r>
              <a:t>3. Сравнение времени и точности</a:t>
            </a:r>
          </a:p>
          <a:p>
            <a:pPr algn="l">
              <a:spcAft>
                <a:spcPts val="500"/>
              </a:spcAft>
              <a:defRPr sz="2400" b="0">
                <a:solidFill>
                  <a:srgbClr val="162536"/>
                </a:solidFill>
                <a:latin typeface="Aptos"/>
              </a:defRPr>
            </a:pPr>
            <a:r>
              <a:t>4. CNN + L2 против CNN + Dropout</a:t>
            </a:r>
          </a:p>
          <a:p>
            <a:pPr algn="l">
              <a:spcAft>
                <a:spcPts val="500"/>
              </a:spcAft>
              <a:defRPr sz="2400" b="0">
                <a:solidFill>
                  <a:srgbClr val="162536"/>
                </a:solidFill>
                <a:latin typeface="Aptos"/>
              </a:defRPr>
            </a:pPr>
            <a:r>
              <a:t>5. Confusion matrix для двух 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Fashion-MNIST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Данные для классификации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28×28 пикселей, оттенки серого, 10 классов одежды: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T-shirt/top · Trouser · Pullover · Dress · Coat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Sandal · Shirt · Sneaker · Bag · Ankle boot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В ноутбуке используется воспроизводимая CPU-выборка: 10 000 train и 2 000 test изображений.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SVM: базовый классификатор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Изображение разворачивается в 784 признака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X_train = x_train.reshape(TRAIN_SIZE, -1)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X_test = x_test.reshape(TEST_SIZE, -1)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model = LinearSVC(C=1.0, max_iter=2000)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model.fit(X_train, y_train)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SVM ищет разделяющую гиперплоскость с максимальным зазором.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CNN: пространственные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Свёртки видят локальные структуры изображения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Conv2d(1→32) → ReLU → MaxPool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Conv2d(32→64) → ReLU → MaxPool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Flatten → Linear(64·7·7→128) → ReLU → Linear(128→10)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CNN автоматически учится находить края, текстуры и части объектов.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Обучение CNN на PyTorch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Мини-батчи, Adam и CrossEntropyLoss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for values, targets in train_loader:</a:t>
            </a: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    optimizer.zero_grad()</a:t>
            </a: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    logits = model(values)</a:t>
            </a: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    loss = criterion(logits, targets)</a:t>
            </a: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    loss.backward()</a:t>
            </a: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    optimizer.step()</a:t>
            </a: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1900" b="0">
                <a:solidFill>
                  <a:srgbClr val="162536"/>
                </a:solidFill>
                <a:latin typeface="Aptos"/>
              </a:defRPr>
            </a:pPr>
            <a:r>
              <a:t>После обучения модель переводится в режим model.eval(), и только затем считается тестовая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L2 и Dropout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Два способа уменьшить переобучение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L2-регуляризация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L_total = L_classification + λ Σ w²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optimizer = Adam(..., weight_decay=1e-4)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Dropout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случайно зануляет часть активаций при обучении: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nn.Dropout(0.5)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4297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0E7490"/>
                </a:solidFill>
                <a:latin typeface="Aptos"/>
              </a:defRPr>
            </a:pPr>
            <a:r>
              <a:t>L2 ограничивает большие веса плавным штрафом.</a:t>
            </a:r>
          </a:p>
          <a:p>
            <a:pPr algn="l">
              <a:spcAft>
                <a:spcPts val="500"/>
              </a:spcAft>
              <a:defRPr sz="2100" b="1">
                <a:solidFill>
                  <a:srgbClr val="0E7490"/>
                </a:solidFill>
                <a:latin typeface="Aptos"/>
              </a:defRPr>
            </a:pPr>
            <a:r>
              <a:t>Dropout создаёт ансамбль случайных подмоделей.</a:t>
            </a:r>
          </a:p>
          <a:p>
            <a:pPr algn="l">
              <a:spcAft>
                <a:spcPts val="500"/>
              </a:spcAft>
              <a:defRPr sz="2100" b="1">
                <a:solidFill>
                  <a:srgbClr val="0E7490"/>
                </a:solidFill>
                <a:latin typeface="Aptos"/>
              </a:defRPr>
            </a:pPr>
            <a:r>
              <a:t>На оценке Dropout выключается.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Результаты эксперимента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CPU, 2 эпохи, одинаковые подвыборки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08</a:t>
            </a:r>
          </a:p>
        </p:txBody>
      </p:sp>
      <p:pic>
        <p:nvPicPr>
          <p:cNvPr id="5" name="Picture 4" descr="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722376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0574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E45C4F"/>
                </a:solidFill>
                <a:latin typeface="Aptos"/>
              </a:defRPr>
            </a:pPr>
            <a:r>
              <a:t>SVM: 0.8190</a:t>
            </a:r>
          </a:p>
          <a:p>
            <a:pPr algn="l">
              <a:spcAft>
                <a:spcPts val="500"/>
              </a:spcAft>
              <a:defRPr sz="2200" b="1">
                <a:solidFill>
                  <a:srgbClr val="E45C4F"/>
                </a:solidFill>
                <a:latin typeface="Aptos"/>
              </a:defRPr>
            </a:pPr>
            <a:r>
              <a:t>CNN: 0.8255</a:t>
            </a:r>
          </a:p>
          <a:p>
            <a:pPr algn="l">
              <a:spcAft>
                <a:spcPts val="500"/>
              </a:spcAft>
              <a:defRPr sz="2200" b="1">
                <a:solidFill>
                  <a:srgbClr val="E45C4F"/>
                </a:solidFill>
                <a:latin typeface="Aptos"/>
              </a:defRPr>
            </a:pPr>
            <a:r>
              <a:t>CNN + L2: 0.7840</a:t>
            </a:r>
          </a:p>
          <a:p>
            <a:pPr algn="l">
              <a:spcAft>
                <a:spcPts val="500"/>
              </a:spcAft>
              <a:defRPr sz="2200" b="1">
                <a:solidFill>
                  <a:srgbClr val="E45C4F"/>
                </a:solidFill>
                <a:latin typeface="Aptos"/>
              </a:defRPr>
            </a:pPr>
            <a:r>
              <a:t>CNN + Dropout: 0.8080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Строки — истинные классы, столбцы — предсказанные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09</a:t>
            </a:r>
          </a:p>
        </p:txBody>
      </p:sp>
      <p:pic>
        <p:nvPicPr>
          <p:cNvPr id="5" name="Picture 4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48463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210312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Диагональ показывает правильные ответы.</a:t>
            </a: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200" b="0">
                <a:solidFill>
                  <a:srgbClr val="162536"/>
                </a:solidFill>
                <a:latin typeface="Aptos"/>
              </a:defRPr>
            </a:pPr>
            <a:r>
              <a:t>Вне диагонали видны ошибки. В Fashion-MNIST похожие силуэты Shirt, T-shirt/top, Pullover и Coat часто путаются.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Метрики классификации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Как оценить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Accuracy — доля правильных ответов.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Precision — доля правильных объектов среди предсказанных классом.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Recall — доля найденных объектов истинного класса.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F1-score — гармоническое среднее Precision и Recall.</a:t>
            </a: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100" b="0">
                <a:solidFill>
                  <a:srgbClr val="162536"/>
                </a:solidFill>
                <a:latin typeface="Aptos"/>
              </a:defRPr>
            </a:pPr>
            <a:r>
              <a:t>Confusion matrix показывает не только «сколько ошибок», но и какие именно классы смешиваются.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Контрольные вопросы 1–5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Краткие ответы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1. Классификация — отнесение изображения к одному из заданных классов.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2. kNN использует ближайших соседей, SVM — гиперплоскость, Random Forest — ансамбль деревьев.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3. CNN извлекает локальные признаки и сохраняет пространственную структуру.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4. Confusion matrix — таблица истинных и предсказанных классов.</a:t>
            </a:r>
          </a:p>
          <a:p>
            <a:pPr algn="l">
              <a:spcAft>
                <a:spcPts val="500"/>
              </a:spcAft>
              <a:defRPr sz="2000" b="0">
                <a:solidFill>
                  <a:srgbClr val="162536"/>
                </a:solidFill>
                <a:latin typeface="Aptos"/>
              </a:defRPr>
            </a:pPr>
            <a:r>
              <a:t>5. Кроме Accuracy используют Precision, Recall, F1-score и ROC-AUC.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62536"/>
                </a:solidFill>
                <a:latin typeface="Aptos"/>
              </a:defRPr>
            </a:pPr>
            <a: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54636C"/>
                </a:solidFill>
                <a:latin typeface="Aptos"/>
              </a:defRPr>
            </a:pPr>
            <a:r>
              <a:t>Что выполнено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  <a:r>
              <a:t>✓ SVM и CNN обучены на Fashion-MNIST</a:t>
            </a:r>
          </a:p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  <a:r>
              <a:t>✓ Сравнены accuracy и время обучения</a:t>
            </a:r>
          </a:p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  <a:r>
              <a:t>✓ Реализованы L2-регуляризация и Dropout</a:t>
            </a:r>
          </a:p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  <a:r>
              <a:t>✓ Построены confusion matrix для двух CNN</a:t>
            </a:r>
          </a:p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  <a:r>
              <a:t>✓ Все вычисления выполнены на PyTorch; загрузка IDX сделана без torchvision</a:t>
            </a:r>
          </a:p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</a:p>
          <a:p>
            <a:pPr algn="l">
              <a:spcAft>
                <a:spcPts val="500"/>
              </a:spcAft>
              <a:defRPr sz="2300" b="0">
                <a:solidFill>
                  <a:srgbClr val="162536"/>
                </a:solidFill>
                <a:latin typeface="Aptos"/>
              </a:defRPr>
            </a:pPr>
            <a:r>
              <a:t>Результат зависит от размера выборки, числа эпох и seed, поэтому эти параметры зафиксированы в ноутбуке.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54636C"/>
                </a:solidFill>
                <a:latin typeface="Aptos"/>
              </a:defRPr>
            </a:pPr>
            <a:r>
              <a:t>Лабораторная 6 · вариант 9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