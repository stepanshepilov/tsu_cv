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532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60"/>
              <a:t>ЛАБОРАТОРНАЯ РАБОТА 6 · ВАРИАНТ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5532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Классификация</a:t>
            </a:r>
          </a:p>
          <a:p>
            <a:pPr algn="l">
              <a:lnSpc>
                <a:spcPct val="108000"/>
              </a:lnSpc>
              <a:spcAft>
                <a:spcPts val="0"/>
              </a:spcAft>
              <a:defRPr sz="3800" b="1">
                <a:solidFill>
                  <a:srgbClr val="15171C"/>
                </a:solidFill>
                <a:latin typeface="Helvetica Neue"/>
              </a:defRPr>
            </a:pPr>
            <a:r>
              <a:t>изображений одежды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77056"/>
            <a:ext cx="5532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Fashion-MNIST на PyTorch: SVM против CNN,</a:t>
            </a:r>
          </a:p>
          <a:p>
            <a:pPr algn="l">
              <a:lnSpc>
                <a:spcPct val="134000"/>
              </a:lnSpc>
              <a:spcAft>
                <a:spcPts val="0"/>
              </a:spcAft>
              <a:defRPr sz="1800" b="0">
                <a:solidFill>
                  <a:srgbClr val="5B6070"/>
                </a:solidFill>
                <a:latin typeface="Helvetica Neue"/>
              </a:defRPr>
            </a:pPr>
            <a:r>
              <a:t>L2-регуляризация, Dropout и матрицы ошибок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42432"/>
            <a:ext cx="6903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Компьютерное зрение · PyTorch · scikit-learn · seaborn</a:t>
            </a:r>
          </a:p>
        </p:txBody>
      </p:sp>
      <p:pic>
        <p:nvPicPr>
          <p:cNvPr id="7" name="Picture 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583" y="2545689"/>
            <a:ext cx="4645152" cy="1858061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ПОСТАНОВКА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Задание варианта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Пять пунктов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598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07568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классификатор SVM для Fashion-MNIST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6606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271576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Реализовать CNN и обучить её на тех же данных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33756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0614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355848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Сравнить время обучения и точность SVM и CNN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77639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04622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99592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Сравнить CNN с L2-регуляризацией и с Dropout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617720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D7E3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86300"/>
            <a:ext cx="365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Aft>
                <a:spcPts val="0"/>
              </a:spcAft>
              <a:defRPr sz="950" b="1">
                <a:solidFill>
                  <a:srgbClr val="0A2E6B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08176" y="4636007"/>
            <a:ext cx="63185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15171C"/>
                </a:solidFill>
                <a:latin typeface="Helvetica Neue"/>
              </a:defRPr>
            </a:pPr>
            <a:r>
              <a:t>Построить confusion matrix для двух CNN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10000 / 2000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изображений на обучение и тест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 эпохи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на каждую CNN, батч 128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57615" y="455676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CPU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5" y="495909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воспроизводимый учебный запуск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Fashion-MNIST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28 × 28 пикселей, оттенки серого, десять классов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03</a:t>
            </a:r>
          </a:p>
        </p:txBody>
      </p:sp>
      <p:pic>
        <p:nvPicPr>
          <p:cNvPr id="7" name="Picture 6" descr="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1284732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3497579"/>
            <a:ext cx="5152644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3671315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10 классов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073652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T-shirt/top · Trouser · Pullover · Dress · Coat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3348" y="3497579"/>
            <a:ext cx="5152644" cy="932688"/>
          </a:xfrm>
          <a:prstGeom prst="roundRect">
            <a:avLst>
              <a:gd name="adj" fmla="val 13725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9380" y="3671315"/>
            <a:ext cx="4640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28 ×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4073652"/>
            <a:ext cx="46405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Sandal · Shirt · Sneaker · Bag · Ankle boot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86300"/>
            <a:ext cx="10543032" cy="1046988"/>
          </a:xfrm>
          <a:prstGeom prst="roundRect">
            <a:avLst>
              <a:gd name="adj" fmla="val 122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60704" y="4924044"/>
            <a:ext cx="50292" cy="57150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42332"/>
            <a:ext cx="9701784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Ноутбук скачивает IDX-архивы с зеркала Fashion-MNIST и распаковывает их через gzip, без torchvision: загрузка не зависит от системных расширений. Пиксели делятся на 255, метки — целые числа от 0 до 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ТЕОРИЯ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Две модели и две регуляризации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именно сравнивается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Linear SVM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Изображение разворачивается в вектор из 784 признаков, и модель ищет разделяющую гиперплоскость с максимальным зазором. Быстрый и понятный базовый результат.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CNN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Свёртки сохраняют двумерную структуру и учатся находить края, текстуры и части объектов; MaxPool делает признаки устойчивее к небольшим сдвигам.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1938528"/>
            <a:ext cx="3355848" cy="2512771"/>
          </a:xfrm>
          <a:prstGeom prst="roundRect">
            <a:avLst>
              <a:gd name="adj" fmla="val 509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212848"/>
            <a:ext cx="2807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1">
                <a:solidFill>
                  <a:srgbClr val="0B57D0"/>
                </a:solidFill>
                <a:latin typeface="Helvetica Neue"/>
              </a:defRPr>
            </a:pPr>
            <a:r>
              <a:t>L2 против Dropout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96896"/>
            <a:ext cx="2807208" cy="15983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L2 добавляет к потерям штраф λ·Σw² и плавно ограничивает большие веса. Dropout при обучении случайно зануляет часть активаций, создавая ансамбль случайных подмоделей.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43907"/>
            <a:ext cx="10543032" cy="1146048"/>
          </a:xfrm>
          <a:prstGeom prst="roundRect">
            <a:avLst>
              <a:gd name="adj" fmla="val 1117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60704" y="4981651"/>
            <a:ext cx="50292" cy="67056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999939"/>
            <a:ext cx="9701784" cy="633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Обе регуляризованные модели имеют одинаковую архитектуру и одинаковый режим обучения, поэтому сравнивается именно способ регуляризации, а не сеть.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Архитектура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Две свёртки, два пулинга, два полносвязных слоя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6903720" cy="1261668"/>
          </a:xfrm>
          <a:prstGeom prst="roundRect">
            <a:avLst>
              <a:gd name="adj" fmla="val 10146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31136"/>
            <a:ext cx="50292" cy="822756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6245352" cy="7861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Conv2d(1 → 32, 3×3)  →  ReLU  →  MaxPool(2)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Conv2d(32 → 64, 3×3) →  ReLU  →  MaxPool(2)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Flatten → Linear(64·7·7 → 128) → ReLU → Linear(128 →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3" y="2011680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2191512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450" b="1">
                <a:solidFill>
                  <a:srgbClr val="0B57D0"/>
                </a:solidFill>
                <a:latin typeface="Helvetica Neue"/>
              </a:defRPr>
            </a:pPr>
            <a:r>
              <a:t>CrossEntropyLoss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593848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принимает сырые logits — softmax не нужен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3" y="3194304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5" y="3374136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Adam, lr = 1e-3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377647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оптимизатор и шаг обучения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4376928"/>
            <a:ext cx="3264408" cy="944880"/>
          </a:xfrm>
          <a:prstGeom prst="roundRect">
            <a:avLst>
              <a:gd name="adj" fmla="val 13548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7615" y="4465320"/>
            <a:ext cx="27523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model.eval()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5" y="4867656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перед подсчётом accuracy Dropout выключается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474720"/>
            <a:ext cx="6903720" cy="1794256"/>
          </a:xfrm>
          <a:prstGeom prst="roundRect">
            <a:avLst>
              <a:gd name="adj" fmla="val 7134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694176"/>
            <a:ext cx="50292" cy="1355344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3712463"/>
            <a:ext cx="6245352" cy="1318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for values, targets in train_loader: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optimizer.zero_grad()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loss = criterion(model(values), targets)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loss.backward()</a:t>
            </a:r>
          </a:p>
          <a:p>
            <a:pPr algn="l">
              <a:lnSpc>
                <a:spcPct val="128000"/>
              </a:lnSpc>
              <a:spcAft>
                <a:spcPts val="100"/>
              </a:spcAft>
              <a:defRPr sz="1300" b="0">
                <a:solidFill>
                  <a:srgbClr val="15171C"/>
                </a:solidFill>
                <a:latin typeface="Menlo"/>
              </a:defRPr>
            </a:pPr>
            <a:r>
              <a:t>    optimizer.step()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Результаты эксперимента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CPU, две эпохи, одинаковые подвыборки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06</a:t>
            </a:r>
          </a:p>
        </p:txBody>
      </p:sp>
      <p:pic>
        <p:nvPicPr>
          <p:cNvPr id="7" name="Picture 6" descr="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38528"/>
            <a:ext cx="10543032" cy="27889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822960" y="4983480"/>
            <a:ext cx="10543032" cy="779526"/>
          </a:xfrm>
          <a:prstGeom prst="roundRect">
            <a:avLst>
              <a:gd name="adj" fmla="val 16422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0704" y="5221224"/>
            <a:ext cx="50292" cy="304038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239512"/>
            <a:ext cx="9701784" cy="267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Базовая CNN обошла SVM и по точности (0.8255 против 0.8190), и по времени обучения (4.36 с против 5.50 с).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Обучение по эпохам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За две эпохи ни одна модель не вышла на плато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07</a:t>
            </a:r>
          </a:p>
        </p:txBody>
      </p:sp>
      <p:pic>
        <p:nvPicPr>
          <p:cNvPr id="7" name="Picture 6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38928" cy="288036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227064" y="1965960"/>
            <a:ext cx="5138928" cy="801623"/>
          </a:xfrm>
          <a:prstGeom prst="roundRect">
            <a:avLst>
              <a:gd name="adj" fmla="val 1596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2074163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0.7840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476499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CNN + L2: weight_decay = 1e-4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3005328"/>
            <a:ext cx="5138928" cy="801623"/>
          </a:xfrm>
          <a:prstGeom prst="roundRect">
            <a:avLst>
              <a:gd name="adj" fmla="val 1596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3113532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515868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CNN + Dropout: p = 0.5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4044696"/>
            <a:ext cx="5138928" cy="801623"/>
          </a:xfrm>
          <a:prstGeom prst="roundRect">
            <a:avLst>
              <a:gd name="adj" fmla="val 15969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4152900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0.8255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4555236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базовая CNN без регуляризации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02352"/>
            <a:ext cx="10543032" cy="1046988"/>
          </a:xfrm>
          <a:prstGeom prst="roundRect">
            <a:avLst>
              <a:gd name="adj" fmla="val 12227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60704" y="5340096"/>
            <a:ext cx="50292" cy="571500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5358384"/>
            <a:ext cx="9701784" cy="534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Меньшая accuracy не означает, что регуляризация бесполезна: за две эпохи переобучение ещё не наступило, а штраф за большие веса и зануление активаций только замедляют подгонку.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Разбор по классам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Linear SVM: обувь и сумки даются легко, верхняя одежда —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08</a:t>
            </a:r>
          </a:p>
        </p:txBody>
      </p:sp>
      <p:pic>
        <p:nvPicPr>
          <p:cNvPr id="7" name="Picture 6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6720840" cy="370332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7882127" y="1965960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59" y="21351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59" y="253746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лучший класс: Ankle boot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3127248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329641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369874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худший класс: Shirt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82127" y="4288536"/>
            <a:ext cx="3483864" cy="923544"/>
          </a:xfrm>
          <a:prstGeom prst="roundRect">
            <a:avLst>
              <a:gd name="adj" fmla="val 13861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59" y="4457699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500" b="1">
                <a:solidFill>
                  <a:srgbClr val="0B57D0"/>
                </a:solidFill>
                <a:latin typeface="Helvetica Neue"/>
              </a:defRPr>
            </a:pPr>
            <a:r>
              <a:t>0.82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4860036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1000" b="0">
                <a:solidFill>
                  <a:srgbClr val="5B6070"/>
                </a:solidFill>
                <a:latin typeface="Helvetica Neue"/>
              </a:defRPr>
            </a:pPr>
            <a:r>
              <a:t>macro avg F1 по десяти классам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97296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Shirt, T-shirt/top, Pullover и Coat имеют похожие силуэты, и линейная граница по сырым пикселям их не разделяет.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Матрицы ошибок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Строки — истинные классы, столбцы — предсказанные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09</a:t>
            </a:r>
          </a:p>
        </p:txBody>
      </p:sp>
      <p:pic>
        <p:nvPicPr>
          <p:cNvPr id="7" name="Picture 6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3664"/>
            <a:ext cx="10543032" cy="3840480"/>
          </a:xfrm>
          <a:prstGeom prst="rect">
            <a:avLst/>
          </a:prstGeom>
          <a:effectLst>
            <a:outerShdw blurRad="114300" dist="25400" dir="5400000" rotWithShape="0">
              <a:srgbClr val="1B2A44">
                <a:alpha val="8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5925312"/>
            <a:ext cx="10543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0">
                <a:solidFill>
                  <a:srgbClr val="5B6070"/>
                </a:solidFill>
                <a:latin typeface="Helvetica Neue"/>
              </a:defRPr>
            </a:pPr>
            <a:r>
              <a:t>0 T-shirt/top · 1 Trouser · 2 Pullover · 3 Dress · 4 Coat · 5 Sandal · 6 Shirt · 7 Sneaker · 8 Bag · 9 Ankle boot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ПУНКТ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Что именно путается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Обе сети ошибаются на одной и той же группе классов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CNN + L2: истинный → предсказанный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6902" y="2057400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Ошибок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4937760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Coat → Shirt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6902" y="2423160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121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770632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43784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Pullover → Shirt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6902" y="2843784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68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191256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64408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T-shirt/top → Shirt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902" y="3264408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11880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Bag → Shirt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6902" y="3685032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2057400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CNN + Dropout: истинный → предсказанный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82174" y="2057400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50" b="1">
                <a:solidFill>
                  <a:srgbClr val="5B6070"/>
                </a:solidFill>
                <a:latin typeface="Helvetica Neue"/>
              </a:defRPr>
            </a:pPr>
            <a:r>
              <a:t>Ошибок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28232" y="2331720"/>
            <a:ext cx="4937760" cy="12801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2423160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Shirt → T-shirt/top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2174" y="2423160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55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8232" y="2770632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2843784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Shirt → Coat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2174" y="2843784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28232" y="3191256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8232" y="3264408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Shirt → Pullover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82174" y="3264408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28232" y="3611880"/>
            <a:ext cx="4937760" cy="7315"/>
          </a:xfrm>
          <a:prstGeom prst="rect">
            <a:avLst/>
          </a:prstGeom>
          <a:solidFill>
            <a:srgbClr val="C9D0D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3685032"/>
            <a:ext cx="35442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Pullover → Coat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82174" y="3685032"/>
            <a:ext cx="117408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150" b="0">
                <a:solidFill>
                  <a:srgbClr val="15171C"/>
                </a:solidFill>
                <a:latin typeface="Helvetica Neue"/>
              </a:defRPr>
            </a:pPr>
            <a:r>
              <a:t>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4224528"/>
            <a:ext cx="10543032" cy="1463040"/>
          </a:xfrm>
          <a:prstGeom prst="roundRect">
            <a:avLst>
              <a:gd name="adj" fmla="val 8750"/>
            </a:avLst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60704" y="4462272"/>
            <a:ext cx="50292" cy="987552"/>
          </a:xfrm>
          <a:prstGeom prst="roundRect">
            <a:avLst>
              <a:gd name="adj" fmla="val 50000"/>
            </a:avLst>
          </a:prstGeom>
          <a:solidFill>
            <a:srgbClr val="0B57D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0" y="4480560"/>
            <a:ext cx="9701784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600" b="0">
                <a:solidFill>
                  <a:srgbClr val="5B6070"/>
                </a:solidFill>
                <a:latin typeface="Helvetica Neue"/>
              </a:defRPr>
            </a:pPr>
            <a:r>
              <a:t>Диагональ у обеих моделей плотная, а вне диагонали видна одна и та же группа: Shirt, T-shirt/top, Pullover и Coat. L2-модель сваливает спорные случаи в класс Shirt, Dropout-модель — наоборот, теряет сам Shirt. Обувь, сумки и брюки обе сети различают почти безошибочно.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ЗАЩИТА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Контрольные вопросы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Ответы по материалу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задача классификации изображений?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03526"/>
            <a:ext cx="5042916" cy="1167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Определение класса, к которому относится входное изображение, — здесь вида одежды из десяти возможных.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98342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Чем отличаются kNN, SVM и Random Forest?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0188"/>
            <a:ext cx="5042916" cy="1167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kNN хранит обучающие объекты и голосует по ближайшим; SVM строит границу с максимальным зазором; Random Forest усредняет предсказания множества деревьев решений.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5004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В чём преимущества CNN?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76850"/>
            <a:ext cx="5042916" cy="1167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Она сама извлекает признаки, учитывает локальность и пространственную структуру и переиспользует веса свёрточных ядер — для изображений это работает лучше, чем плоский вектор пикселей.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2011680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Что такое confusion matrix?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3076" y="2303526"/>
            <a:ext cx="5042916" cy="1167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Таблица соответствий истинных и предсказанных классов: диагональ показывает правильные ответы, остальные клетки — типы ошибок.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3076" y="3498342"/>
            <a:ext cx="5042916" cy="227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  <a:defRPr sz="1300" b="1">
                <a:solidFill>
                  <a:srgbClr val="15171C"/>
                </a:solidFill>
                <a:latin typeface="Helvetica Neue"/>
              </a:defRPr>
            </a:pPr>
            <a:r>
              <a:t>Какие метрики используются кроме Accuracy?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3076" y="3790188"/>
            <a:ext cx="5042916" cy="1167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  <a:defRPr sz="1250" b="0">
                <a:solidFill>
                  <a:srgbClr val="5B6070"/>
                </a:solidFill>
                <a:latin typeface="Helvetica Neue"/>
              </a:defRPr>
            </a:pPr>
            <a:r>
              <a:t>Precision, Recall, F1-score, ROC-AUC, а для многоклассовых задач ещё macro-, micro- и weighted-усреднения.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12064"/>
            <a:ext cx="10545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000" b="1">
                <a:solidFill>
                  <a:srgbClr val="0B57D0"/>
                </a:solidFill>
                <a:latin typeface="Helvetica Neue"/>
              </a:defRPr>
            </a:pPr>
            <a:r>
              <a:rPr spc="140"/>
              <a:t>ВЫВОДЫ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5171C"/>
                </a:solidFill>
                <a:latin typeface="Helvetica Neue"/>
              </a:defRPr>
            </a:pPr>
            <a: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4577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1350" b="0">
                <a:solidFill>
                  <a:srgbClr val="5B6070"/>
                </a:solidFill>
                <a:latin typeface="Helvetica Neue"/>
              </a:defRPr>
            </a:pPr>
            <a:r>
              <a:t>Что выполнено в ноутбуке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45936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Лабораторная работа 6 · вариант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634593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  <a:spcAft>
                <a:spcPts val="0"/>
              </a:spcAft>
              <a:defRPr sz="900" b="0">
                <a:solidFill>
                  <a:srgbClr val="5B6070"/>
                </a:solidFill>
                <a:latin typeface="Helvetica Neue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201168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Linear SVM на 784 признаках дал accuracy 0.8190 за 5.50 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5117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59736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CNN из двух свёрточных блоков — 0.8255 за 4.36 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923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2907792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CNN + L2 (weight_decay = 1e-4) — 0.7840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4728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55848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CNN + Dropout (p = 0.5) — 0.8080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953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Построены и разобраны матрицы ошибок обеих регуляризованных сетей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3434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146B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51960"/>
            <a:ext cx="10158984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50" b="0">
                <a:solidFill>
                  <a:srgbClr val="15171C"/>
                </a:solidFill>
                <a:latin typeface="Helvetica Neue"/>
              </a:defRPr>
            </a:pPr>
            <a:r>
              <a:t>Ограничения запуска зафиксированы явно: CPU, 10 000 / 2 000, две эпохи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84064"/>
            <a:ext cx="105430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  <a:defRPr sz="1600" b="1">
                <a:solidFill>
                  <a:srgbClr val="0B57D0"/>
                </a:solidFill>
                <a:latin typeface="Helvetica Neue"/>
              </a:defRPr>
            </a:pPr>
            <a:r>
              <a:t>Accuracy показывает, сколько ошибок сделала модель, а confusion matrix — какие именно: обе сети путают одежду с похожим силуэтом и почти не ошибаются на обуви и сумках.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