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6"/>
    <p:restoredTop sz="94638"/>
  </p:normalViewPr>
  <p:slideViewPr>
    <p:cSldViewPr snapToGrid="0" snapToObjects="1">
      <p:cViewPr varScale="1">
        <p:scale>
          <a:sx n="133" d="100"/>
          <a:sy n="133" d="100"/>
        </p:scale>
        <p:origin x="16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5532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60"/>
              <a:t>ЛАБОРАТОРНАЯ РАБОТА 3 · ВАРИАНТ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5532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800" b="1">
                <a:solidFill>
                  <a:srgbClr val="15171C"/>
                </a:solidFill>
                <a:latin typeface="Helvetica Neue"/>
              </a:defRPr>
            </a:pPr>
            <a:r>
              <a:t>Геометрия кадра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77056"/>
            <a:ext cx="5532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r>
              <a:t>Масштабирование, поворот, сдвиг, отражение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r>
              <a:t>и аффинное преобразование по трём точкам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42432"/>
            <a:ext cx="6903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rPr dirty="0" err="1"/>
              <a:t>Компьютерное</a:t>
            </a:r>
            <a:r>
              <a:rPr dirty="0"/>
              <a:t> </a:t>
            </a:r>
            <a:r>
              <a:rPr dirty="0" err="1"/>
              <a:t>зрение</a:t>
            </a:r>
            <a:r>
              <a:rPr dirty="0"/>
              <a:t> · OpenCV · NumPy · Matplotlib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83" y="2167109"/>
            <a:ext cx="4645152" cy="2615221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3D2CC4-E12B-5F8E-F871-754F2B9E0F69}"/>
              </a:ext>
            </a:extLst>
          </p:cNvPr>
          <p:cNvSpPr txBox="1"/>
          <p:nvPr/>
        </p:nvSpPr>
        <p:spPr>
          <a:xfrm>
            <a:off x="822960" y="5367509"/>
            <a:ext cx="6903720" cy="2373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rPr lang="ru-RU" dirty="0"/>
              <a:t>Кошелев Егор, Шепилов Степан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ПОСТАНОВКА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Задание варианта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Пять преобразований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2598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075688"/>
            <a:ext cx="63185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Масштабировать изображение до квадрата 300 × 300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9748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76606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715768"/>
            <a:ext cx="63185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Повернуть изображение на 25°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375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40614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355848"/>
            <a:ext cx="63185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Сместить на 120 пикселей влево и 60 вниз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77639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04622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95927"/>
            <a:ext cx="63185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Отразить изображение по вертикали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177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68630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4636007"/>
            <a:ext cx="63185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Выполнить аффинное преобразование треугольника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2011680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57615" y="2191512"/>
            <a:ext cx="27523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1000 × 563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5" y="2593848"/>
            <a:ext cx="2752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исходный кадр, пикселей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194304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57615" y="3374136"/>
            <a:ext cx="27523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2 ×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5" y="3776472"/>
            <a:ext cx="2752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матрица аффинного преобразования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4376928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57615" y="4556760"/>
            <a:ext cx="27523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5" y="4959096"/>
            <a:ext cx="2752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степеней свободы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ТЕОРИЯ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Аффинное преобразование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Одна матрица описывает все пять операций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38528"/>
            <a:ext cx="3355848" cy="2249424"/>
          </a:xfrm>
          <a:prstGeom prst="roundRect">
            <a:avLst>
              <a:gd name="adj" fmla="val 569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2807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Линейная часть 2 ×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96896"/>
            <a:ext cx="2807208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Отвечает за поворот, масштаб и скос. Модуль определителя показывает, во сколько раз меняется площадь фигуры, а знак — сохраняется ли ориентация.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938528"/>
            <a:ext cx="3355848" cy="2249424"/>
          </a:xfrm>
          <a:prstGeom prst="roundRect">
            <a:avLst>
              <a:gd name="adj" fmla="val 569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2212848"/>
            <a:ext cx="2807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Столбец переноса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596896"/>
            <a:ext cx="2807208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Задаёт сдвиг: положительное tₓ двигает вправо, положительное t_y — вниз. Отсюда «влево на 120 и вниз на 60» — это tₓ = −120, t_y = +60.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938528"/>
            <a:ext cx="3355848" cy="2249424"/>
          </a:xfrm>
          <a:prstGeom prst="roundRect">
            <a:avLst>
              <a:gd name="adj" fmla="val 569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4464" y="2212848"/>
            <a:ext cx="28072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Что сохраняется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596896"/>
            <a:ext cx="2807208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Прямые остаются прямыми, параллельные — параллельными, отношение длин на одной прямой не меняется. Углы и длины не сохраняются.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80560"/>
            <a:ext cx="10543032" cy="1463040"/>
          </a:xfrm>
          <a:prstGeom prst="roundRect">
            <a:avLst>
              <a:gd name="adj" fmla="val 875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60704" y="4718304"/>
            <a:ext cx="50292" cy="987552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736592"/>
            <a:ext cx="9701784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600" b="0">
                <a:solidFill>
                  <a:srgbClr val="5B6070"/>
                </a:solidFill>
                <a:latin typeface="Helvetica Neue"/>
              </a:defRPr>
            </a:pPr>
            <a:r>
              <a:t>warpAffine идёт от выходного пикселя к входному по обратному преобразованию — иначе в выходной сетке остались бы «дыры». Точки за пределами исходного кадра заполняются по borderMode и borderValue.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Масштабирование до 300 ×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Соотношение сторон меняется с 1.776 на 1.000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04</a:t>
            </a:r>
          </a:p>
        </p:txBody>
      </p:sp>
      <p:pic>
        <p:nvPicPr>
          <p:cNvPr id="7" name="Picture 6" descr="re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120640" cy="2825496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6227064" y="1965960"/>
            <a:ext cx="5138928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83096" y="2135124"/>
            <a:ext cx="46268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0.300 / 0.533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2537460"/>
            <a:ext cx="46268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коэффициенты sₓ и s_y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3127248"/>
            <a:ext cx="5138928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3096" y="3296412"/>
            <a:ext cx="46268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в 6.3 раза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3698748"/>
            <a:ext cx="46268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меньше пикселей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4288536"/>
            <a:ext cx="5138928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4457699"/>
            <a:ext cx="46268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(ширина, высота)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4860036"/>
            <a:ext cx="46268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порядок аргументов cv2.resize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97296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Второй вариант сохраняет пропорции: изображение вписано в квадрат и дополнено полями через cv2.copyMakeBorder.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Выбор интерполяции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Один и тот же фрагмент после четырёх методов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05</a:t>
            </a:r>
          </a:p>
        </p:txBody>
      </p:sp>
      <p:pic>
        <p:nvPicPr>
          <p:cNvPr id="7" name="Picture 6" descr="inte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10543032" cy="2724912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22960" y="4919472"/>
            <a:ext cx="2457450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5074920"/>
            <a:ext cx="194538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Nearest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5477256"/>
            <a:ext cx="19453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средний |∇²I| = 35.5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8153" y="4919472"/>
            <a:ext cx="2457450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74185" y="5074920"/>
            <a:ext cx="194538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Linear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4185" y="5477256"/>
            <a:ext cx="19453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средний |∇²I| = 32.9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3348" y="4919472"/>
            <a:ext cx="2457450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9380" y="5074920"/>
            <a:ext cx="194538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Cubic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9380" y="5477256"/>
            <a:ext cx="19453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средний |∇²I| = 36.2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8542" y="4919472"/>
            <a:ext cx="2457450" cy="896112"/>
          </a:xfrm>
          <a:prstGeom prst="roundRect">
            <a:avLst>
              <a:gd name="adj" fmla="val 1428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64574" y="5074920"/>
            <a:ext cx="194538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Area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4574" y="5477256"/>
            <a:ext cx="19453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средний |∇²I| = 25.6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80175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INTER_NEAREST даёт самый «зубчатый» результат, INTER_AREA — самый гладкий; при уменьшении кадра рекомендуется именно он.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Поворот на 25°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getRotationMatrix2D возвращает готовую матрицу 2 ×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06</a:t>
            </a:r>
          </a:p>
        </p:txBody>
      </p:sp>
      <p:pic>
        <p:nvPicPr>
          <p:cNvPr id="7" name="Picture 6" descr="ro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7360920" cy="2350008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366760" y="1965960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22792" y="2135124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0.9063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537460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M[0,0] = cos 25° = 0.9063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127248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22792" y="3296412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0.4226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698748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M[0,1] = sin 25° = 0.4226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288536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22792" y="4366259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1.000000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476859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определитель: поворот сохраняет площадь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00016"/>
            <a:ext cx="7360920" cy="995375"/>
          </a:xfrm>
          <a:prstGeom prst="roundRect">
            <a:avLst>
              <a:gd name="adj" fmla="val 12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4919472"/>
            <a:ext cx="50292" cy="556463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07008" y="4937759"/>
            <a:ext cx="6702552" cy="519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M = cv2.getRotationMatrix2D(center, 25.0, 1.0)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rotated = cv2.warpAffine(image, M, (width, height))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Кадр под поворот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При неизменном размере углы изображения обрезаются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07</a:t>
            </a:r>
          </a:p>
        </p:txBody>
      </p:sp>
      <p:pic>
        <p:nvPicPr>
          <p:cNvPr id="7" name="Picture 6" descr="exp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7360920" cy="2350008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366760" y="1965960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22792" y="2135124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1144 × 932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537460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расширенный кадр вместо 1000 × 563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127248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22792" y="3296412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0B57D0"/>
                </a:solidFill>
                <a:latin typeface="Helvetica Neue"/>
              </a:defRPr>
            </a:pPr>
            <a:r>
              <a:t>W′ = H·sin θ + W·cos 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698748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новая ширина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288536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22792" y="4457699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850" b="1">
                <a:solidFill>
                  <a:srgbClr val="0B57D0"/>
                </a:solidFill>
                <a:latin typeface="Helvetica Neue"/>
              </a:defRPr>
            </a:pPr>
            <a:r>
              <a:t>H′ = H·cos θ + W·sin 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486003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новая высота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53712"/>
            <a:ext cx="7360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Столбец переноса сдвигается на разницу центров, иначе изображение уедет в угол расширенного кадра.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Сдвиг на (−120, +60)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Матрица переноса и проверка по контрольной точке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08</a:t>
            </a:r>
          </a:p>
        </p:txBody>
      </p:sp>
      <p:pic>
        <p:nvPicPr>
          <p:cNvPr id="7" name="Picture 6" descr="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7360920" cy="2350008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366760" y="1965960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22792" y="2135124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(400, 200)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537460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контрольная точка до сдвига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127248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22792" y="3296412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(280, 260)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698748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она же после сдвига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288536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22792" y="4457699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120 и 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486003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ширина полос фона справа и сверху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00016"/>
            <a:ext cx="7360920" cy="995375"/>
          </a:xfrm>
          <a:prstGeom prst="roundRect">
            <a:avLst>
              <a:gd name="adj" fmla="val 12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4919472"/>
            <a:ext cx="50292" cy="556463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07008" y="4937759"/>
            <a:ext cx="6702552" cy="519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T = np.float32([[1, 0, -120],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               [0, 1,   60]])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Отражение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cv2.flip численно совпадает со срезами NumPy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09</a:t>
            </a:r>
          </a:p>
        </p:txBody>
      </p:sp>
      <p:pic>
        <p:nvPicPr>
          <p:cNvPr id="7" name="Picture 6" descr="f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10543032" cy="2249424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22960" y="4498848"/>
            <a:ext cx="218358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Функция OpenCV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6275" y="4498848"/>
            <a:ext cx="218358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Эквивалент NumPy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9590" y="4498848"/>
            <a:ext cx="133868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Совпало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773168"/>
            <a:ext cx="6035040" cy="12801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864608"/>
            <a:ext cx="218358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cv2.flip(img,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6275" y="4864608"/>
            <a:ext cx="218358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img[::-1, :]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9590" y="4864608"/>
            <a:ext cx="133868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да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157216"/>
            <a:ext cx="6035040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230368"/>
            <a:ext cx="218358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cv2.flip(img, 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6275" y="5230368"/>
            <a:ext cx="218358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img[:, ::-1]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9590" y="5230368"/>
            <a:ext cx="133868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да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522976"/>
            <a:ext cx="6035040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596128"/>
            <a:ext cx="218358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cv2.flip(img, -1)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16275" y="5596128"/>
            <a:ext cx="218358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img[::-1, ::-1]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9590" y="5596128"/>
            <a:ext cx="133868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да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4443984"/>
            <a:ext cx="4187952" cy="1581912"/>
          </a:xfrm>
          <a:prstGeom prst="roundRect">
            <a:avLst>
              <a:gd name="adj" fmla="val 8092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88936" y="4700016"/>
            <a:ext cx="3584448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flip(0) совпал и с warpAffine по матрице diag(1, −1) с переносом на H − 1. Её определитель равен −1: ориентация меняется на зеркальную.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Аффинное преобразование треугольника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Три пары точек однозначно задают матрицу 2 ×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10</a:t>
            </a:r>
          </a:p>
        </p:txBody>
      </p:sp>
      <p:pic>
        <p:nvPicPr>
          <p:cNvPr id="7" name="Picture 6" descr="af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10543032" cy="260604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22960" y="4782312"/>
            <a:ext cx="6035040" cy="1261668"/>
          </a:xfrm>
          <a:prstGeom prst="roundRect">
            <a:avLst>
              <a:gd name="adj" fmla="val 10146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5001768"/>
            <a:ext cx="50292" cy="822756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7008" y="5020056"/>
            <a:ext cx="5376672" cy="78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M = cv2.getAffineTransform(pts_src, pts_dst)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M = [[  1.1502   0.7434 -166.8679]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     [ -0.1977   0.9208  117.5849]]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4782312"/>
            <a:ext cx="4187952" cy="548640"/>
          </a:xfrm>
          <a:prstGeom prst="roundRect">
            <a:avLst>
              <a:gd name="adj" fmla="val 23333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34071" y="4764024"/>
            <a:ext cx="36758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1.2060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4071" y="5166360"/>
            <a:ext cx="3675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определитель линейной части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5477256"/>
            <a:ext cx="4187952" cy="548640"/>
          </a:xfrm>
          <a:prstGeom prst="roundRect">
            <a:avLst>
              <a:gd name="adj" fmla="val 23333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34071" y="5458968"/>
            <a:ext cx="36758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1.2060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4071" y="5861304"/>
            <a:ext cx="3675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во столько раз выросла площадь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Что стало с углами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Сумма осталась 180°, но сами углы изменились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11</a:t>
            </a:r>
          </a:p>
        </p:txBody>
      </p:sp>
      <p:pic>
        <p:nvPicPr>
          <p:cNvPr id="7" name="Picture 6" descr="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6720840" cy="356616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7882127" y="1965960"/>
            <a:ext cx="3483864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59" y="2135124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180.0° → 180.0°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53746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сумма углов: фигура осталась треугольником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3127248"/>
            <a:ext cx="3483864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59" y="329641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132500 → 159800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3698748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площадь, пикселей²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4288536"/>
            <a:ext cx="3483864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59" y="4366259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10⁻⁸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768596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синус угла между сторонами параллелограмма после преобразования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6072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Углы сохраняет только подобие — поворот, перенос, равномерный масштаб и отражение. Общее аффинное преобразование включает ещё скос.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ДОПОЛНИТЕЛЬНО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Композиция преобразований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Три матрицы, перемноженные в одну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12</a:t>
            </a:r>
          </a:p>
        </p:txBody>
      </p:sp>
      <p:pic>
        <p:nvPicPr>
          <p:cNvPr id="7" name="Picture 6" descr="com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7360920" cy="2350008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366760" y="1965960"/>
            <a:ext cx="2999232" cy="950976"/>
          </a:xfrm>
          <a:prstGeom prst="roundRect">
            <a:avLst>
              <a:gd name="adj" fmla="val 134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22792" y="2148840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4.6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55117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средняя разница, уровней яркости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154680"/>
            <a:ext cx="2999232" cy="950976"/>
          </a:xfrm>
          <a:prstGeom prst="roundRect">
            <a:avLst>
              <a:gd name="adj" fmla="val 134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22792" y="3337560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246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73989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максимальная разница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553712"/>
            <a:ext cx="7360920" cy="1046988"/>
          </a:xfrm>
          <a:prstGeom prst="roundRect">
            <a:avLst>
              <a:gd name="adj" fmla="val 1222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60704" y="4791456"/>
            <a:ext cx="50292" cy="571500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4809744"/>
            <a:ext cx="6519672" cy="534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Расхождение возникает из-за повторной интерполяции и заливки границ на промежуточных шагах: композицию выгоднее выполнять одной матрицей.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ЗАЩИТА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Контрольные вопросы варианта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Два вопроса по теме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42916" cy="490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15171C"/>
                </a:solidFill>
                <a:latin typeface="Helvetica Neue"/>
              </a:defRPr>
            </a:pPr>
            <a:r>
              <a:t>Что произойдёт с углами треугольника при аффинном преобразовании?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6416"/>
            <a:ext cx="5042916" cy="3258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В общем случае углы изменятся: линейная часть матрицы включает не только поворот, но и растяжение по осям и скос. В расчёте 80.9°, 30.6°, 68.5° перешли в 53.3°, 35.5°, 91.2°; сумма осталась равной 180°. Площадь умножилась на модуль определителя — 1.2060. Углы сохраняет только подобие.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2011680"/>
            <a:ext cx="5042916" cy="245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15171C"/>
                </a:solidFill>
                <a:latin typeface="Helvetica Neue"/>
              </a:defRPr>
            </a:pPr>
            <a:r>
              <a:t>Как в OpenCV задаются исходные и целевые точки?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321052"/>
            <a:ext cx="5042916" cy="3503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Массивом np.float32 формы (N, 2), где каждая строка — пара (x, y): сначала столбец, потом строка — противоположно порядку image[y, x]. Аффинному преобразованию нужны три пары точек, перспективному — четыре. Порядок точек в наборах должен совпадать, и точки не должны лежать на одной прямой.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ЗАЩИТА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Контрольные вопросы практики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Пять вопросов по теме занятия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42916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Чем аффинное преобразование отличается от перспективного?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3838"/>
            <a:ext cx="5042916" cy="1130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Аффинное — матрица 2 × 3, 6 степеней свободы, сохраняет параллельность, строится по трём парам точек. Перспективное — 3 × 3, 8 степеней свободы, параллельность не сохраняет, нужны четыре пары.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71468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Как работает cv2.warpAffine?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54551"/>
            <a:ext cx="5042916" cy="1349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Для каждого пикселя выхода находит точку входа через обратное преобразование и берёт там значение с интерполяцией. Точки за границей заполняются по borderMode.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31256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Какие параметры нужны getRotationMatrix2D?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14339"/>
            <a:ext cx="5042916" cy="1349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Центр вращения (x, y), угол в градусах — положительный против часовой стрелки — и коэффициент масштаба.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2011680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Чем отражение по горизонтали отличается от вертикального?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2294763"/>
            <a:ext cx="5042916" cy="1349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flip(1) меняет местами лево и право, flip(0) — верх и низ, flip(−1) выполняет обе операции и равен повороту на 180°.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3671468"/>
            <a:ext cx="504291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50" b="1">
                <a:solidFill>
                  <a:srgbClr val="15171C"/>
                </a:solidFill>
                <a:latin typeface="Helvetica Neue"/>
              </a:defRPr>
            </a:pPr>
            <a:r>
              <a:t>Как выбрать точки для перспективного преобразования?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3954551"/>
            <a:ext cx="5042916" cy="1349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200" b="0">
                <a:solidFill>
                  <a:srgbClr val="5B6070"/>
                </a:solidFill>
                <a:latin typeface="Helvetica Neue"/>
              </a:defRPr>
            </a:pPr>
            <a:r>
              <a:t>Четыре точки одной плоскости, образующие выпуклый четырёхугольник; никакие три не лежат на прямой. Чем дальше точки друг от друга, тем устойчивее оценка.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Что выполнено в ноутбуке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3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8" y="2011680"/>
            <a:ext cx="10158984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Масштабирование до 300 × 300 изменило соотношение сторон с 1.776 на 1.000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5117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7008" y="2459736"/>
            <a:ext cx="10158984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Поворот на 25° выполнен матрицей с определителем 1.000000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992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2907792"/>
            <a:ext cx="10158984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Кадр под поворот расширен до 1144 × 932, чтобы не терять углы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472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07008" y="3355848"/>
            <a:ext cx="10158984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Сдвиг проверен точкой: (400, 200) → (280, 260)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953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7008" y="3803904"/>
            <a:ext cx="10158984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cv2.flip численно совпал со срезами NumPy и с матричным преобразованием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43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07008" y="4251960"/>
            <a:ext cx="10158984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Аффинное преобразование изменило площадь ровно в 1.2060 раза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  <a:defRPr sz="1600" b="1">
                <a:solidFill>
                  <a:srgbClr val="0B57D0"/>
                </a:solidFill>
                <a:latin typeface="Helvetica Neue"/>
              </a:defRPr>
            </a:pPr>
            <a:r>
              <a:t>Аффинное преобразование сохраняет прямые, параллельность и отношения длин, но не углы и длины; площадь меняется ровно на модуль определителя.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1325</Words>
  <Application>Microsoft Macintosh PowerPoint</Application>
  <PresentationFormat>Widescreen</PresentationFormat>
  <Paragraphs>193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Helvetica Neue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2026-10-15T11:56:30Z</dcterms:modified>
  <cp:category/>
</cp:coreProperties>
</file>