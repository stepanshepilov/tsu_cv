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532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60"/>
              <a:t>ЛАБОРАТОРНАЯ РАБОТА 5 · ВАРИАНТ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532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Поиск логотипа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на реальной фотографии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77056"/>
            <a:ext cx="5532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SIFT, BFMatcher с фильтром Лоу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и локализация объекта методом RANSAC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42432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Компьютерное зрение · OpenCV · NumPy · Matplotlib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83" y="1186228"/>
            <a:ext cx="4645152" cy="457698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Задание варианта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пунктов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59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07568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Найти ключевые точки на изображении логотипа (SIFT)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60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1576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Сопоставить логотип с его фотографией на баннере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35584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Использовать BFMatcher с фильтрацией по Лоу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462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95927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Сопоставить изображения с разным углом обзора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177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8630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636007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Сделать вывод о применимости метода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2011680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2191512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2593848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ключевых точек на логотипе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194304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5" y="3374136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3776472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чисел в одном дескрипторе SIFT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376928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4556760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34 / 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4959096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инлайеров RANSAC из совпадений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Эталонный логотип и реальная фотография фасада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03</a:t>
            </a:r>
          </a:p>
        </p:txBody>
      </p:sp>
      <p:pic>
        <p:nvPicPr>
          <p:cNvPr id="7" name="Picture 6" descr="logo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2103120" cy="2221117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938528"/>
            <a:ext cx="2103120" cy="2192503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pic>
        <p:nvPicPr>
          <p:cNvPr id="9" name="Picture 8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938528"/>
            <a:ext cx="2916836" cy="3931919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822960" y="434340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Исходный файл и эталон после обрезки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54880"/>
            <a:ext cx="4434840" cy="1046988"/>
          </a:xfrm>
          <a:prstGeom prst="roundRect">
            <a:avLst>
              <a:gd name="adj" fmla="val 1222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0704" y="4992624"/>
            <a:ext cx="50292" cy="57150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10912"/>
            <a:ext cx="3593592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Эталон: полоса фотобанка и белые поля обрезаны, ширина 400 пикселей.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938528"/>
            <a:ext cx="2679192" cy="2651760"/>
          </a:xfrm>
          <a:prstGeom prst="roundRect">
            <a:avLst>
              <a:gd name="adj" fmla="val 482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24544" y="2176272"/>
            <a:ext cx="50292" cy="217627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194560"/>
            <a:ext cx="1837944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Фото — реальный снимок фасада 477 × 643. Логотип снят снизу и сбоку, повёрнут, уменьшен и сжат JPEG; рядом текст, стрелка и вывеска McDonald's.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Конвейер из трёх ступеней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Ни одну ступень нельзя убрать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3355848" cy="2776118"/>
          </a:xfrm>
          <a:prstGeom prst="roundRect">
            <a:avLst>
              <a:gd name="adj" fmla="val 461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SIFT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96896"/>
            <a:ext cx="2807208" cy="1861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Пирамида разностей гауссиан даёт точки, устойчивые к масштабу; доминирующее направление градиента — к повороту. Дескриптор — 128 чисел из гистограмм направлений в сетке 4 × 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938528"/>
            <a:ext cx="3355848" cy="2776118"/>
          </a:xfrm>
          <a:prstGeom prst="roundRect">
            <a:avLst>
              <a:gd name="adj" fmla="val 461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212848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Фильтр Лоу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96896"/>
            <a:ext cx="2807208" cy="1861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Оставляем совпадение, только если d₁ / d₂ &lt; ρ. У верного соответствия ближайший сосед заметно ближе второго, у случайного оба соседа равноудалены.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938528"/>
            <a:ext cx="3355848" cy="2776118"/>
          </a:xfrm>
          <a:prstGeom prst="roundRect">
            <a:avLst>
              <a:gd name="adj" fmla="val 461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212848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RANSAC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96896"/>
            <a:ext cx="2807208" cy="1861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Логотип плоский, значит все верные совпадения связаны одной гомографией 3 × 3. Случайные четвёрки точек дают модели, побеждает та, у которой больше инлайеров.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07254"/>
            <a:ext cx="10543032" cy="1146048"/>
          </a:xfrm>
          <a:prstGeom prst="roundRect">
            <a:avLst>
              <a:gd name="adj" fmla="val 1117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0704" y="5244998"/>
            <a:ext cx="50292" cy="67056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263286"/>
            <a:ext cx="9701784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600" b="0">
                <a:solidFill>
                  <a:srgbClr val="5B6070"/>
                </a:solidFill>
                <a:latin typeface="Helvetica Neue"/>
              </a:defRPr>
            </a:pPr>
            <a:r>
              <a:t>Абсолютный порог на расстояние d₁ работал бы хуже: разные участки изображения имеют разную различимость, единого масштаба расстояний не существует.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Ключевые точки логотипа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Точки садятся туда, где градиент велик сразу в двух направлениях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05</a:t>
            </a:r>
          </a:p>
        </p:txBody>
      </p:sp>
      <p:pic>
        <p:nvPicPr>
          <p:cNvPr id="7" name="Picture 6" descr="logo_k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3771625" cy="3931919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5074920" y="1938528"/>
            <a:ext cx="2926080" cy="804671"/>
          </a:xfrm>
          <a:prstGeom prst="roundRect">
            <a:avLst>
              <a:gd name="adj" fmla="val 1590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30952" y="2048256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0952" y="2450592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ключевых точек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980944"/>
            <a:ext cx="2926080" cy="804671"/>
          </a:xfrm>
          <a:prstGeom prst="roundRect">
            <a:avLst>
              <a:gd name="adj" fmla="val 1590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3090672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(247, 128)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3493008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матрица дескрипторов, float32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4023360"/>
            <a:ext cx="2926080" cy="804671"/>
          </a:xfrm>
          <a:prstGeom prst="roundRect">
            <a:avLst>
              <a:gd name="adj" fmla="val 1590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4133088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1.9 … 150.5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4535424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размер окрестности, пикселей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5065776"/>
            <a:ext cx="2926080" cy="804671"/>
          </a:xfrm>
          <a:prstGeom prst="roundRect">
            <a:avLst>
              <a:gd name="adj" fmla="val 1590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5175504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14.8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5577840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точек на 10 000 пикселей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938528"/>
            <a:ext cx="3090672" cy="2919222"/>
          </a:xfrm>
          <a:prstGeom prst="roundRect">
            <a:avLst>
              <a:gd name="adj" fmla="val 43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13064" y="2176272"/>
            <a:ext cx="50292" cy="2443734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2194560"/>
            <a:ext cx="2249424" cy="2407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Точки — на контурах букв, бликах булочек и краях синей дуги. На крупных одноцветных заливках их почти нет: плоская графика даёт мало точек. Несколько точек попали на водяной знак фотобанка — на фото им нет пары.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Ключевые точки на фотографии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Логотип — лишь малая часть кадра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06</a:t>
            </a:r>
          </a:p>
        </p:txBody>
      </p:sp>
      <p:pic>
        <p:nvPicPr>
          <p:cNvPr id="7" name="Picture 6" descr="banner_k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3052503" cy="411480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4297680" y="1938528"/>
            <a:ext cx="3291840" cy="1152144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221992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1670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624328"/>
            <a:ext cx="2779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ключевых точек на фото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328416"/>
            <a:ext cx="3291840" cy="1152144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3611880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247 × 1670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4014216"/>
            <a:ext cx="2779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сравнений при полном переборе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718304"/>
            <a:ext cx="3291840" cy="1152144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5001768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412 тыс.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5404104"/>
            <a:ext cx="2779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операций над 128-мерными векторами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938528"/>
            <a:ext cx="3456432" cy="2919222"/>
          </a:xfrm>
          <a:prstGeom prst="roundRect">
            <a:avLst>
              <a:gd name="adj" fmla="val 43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2176272"/>
            <a:ext cx="50292" cy="2443734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194560"/>
            <a:ext cx="2615184" cy="2407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Большая часть точек приходится на надпись, стрелку, вывеску McDonald's, плитку стены, светильники и камеры. Для каждой точки логотипа найдётся «ближайший» дескриптор среди них — даже когда верной пары нет.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BFMatcher и фильтр Лоу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Отношение d₁ / d₂ разделяет верные и случайные совпадения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07</a:t>
            </a:r>
          </a:p>
        </p:txBody>
      </p:sp>
      <p:pic>
        <p:nvPicPr>
          <p:cNvPr id="7" name="Picture 6" descr="ratio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6720840" cy="274320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7882127" y="1938528"/>
            <a:ext cx="3483864" cy="1252728"/>
          </a:xfrm>
          <a:prstGeom prst="roundRect">
            <a:avLst>
              <a:gd name="adj" fmla="val 1021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2272284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59 из 247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6746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прошли фильтр при ρ = 0.8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429000"/>
            <a:ext cx="3483864" cy="1252728"/>
          </a:xfrm>
          <a:prstGeom prst="roundRect">
            <a:avLst>
              <a:gd name="adj" fmla="val 1021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376275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57.6 %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416509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из них верных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2842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Режим фильтрации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5008" y="4846320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Совпадений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7324" y="4846320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Верных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8779" y="4846320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Точность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1094" y="4846320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Ошибка углов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120640"/>
            <a:ext cx="10543032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2842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без фильтра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5008" y="5212080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7324" y="5212080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8779" y="5212080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27.5 %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1094" y="5212080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1.66 пикс.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468112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41264"/>
            <a:ext cx="2842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crossCheck = True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5008" y="5541264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7324" y="5541264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8779" y="5541264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41.5 %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1094" y="5541264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2.24 пикс.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797296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4944" y="5815584"/>
            <a:ext cx="10799063" cy="310896"/>
          </a:xfrm>
          <a:prstGeom prst="roundRect">
            <a:avLst>
              <a:gd name="adj" fmla="val 20588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870448"/>
            <a:ext cx="2842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15171C"/>
                </a:solidFill>
                <a:latin typeface="Helvetica Neue"/>
              </a:defRPr>
            </a:pPr>
            <a:r>
              <a:t>фильтр Лоу, ρ = 0.8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5008" y="5870448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15171C"/>
                </a:solidFill>
                <a:latin typeface="Helvetica Neue"/>
              </a:defRPr>
            </a:pPr>
            <a:r>
              <a:t>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7324" y="5870448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15171C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48779" y="5870448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15171C"/>
                </a:solidFill>
                <a:latin typeface="Helvetica Neue"/>
              </a:defRPr>
            </a:pPr>
            <a:r>
              <a:t>57.6 %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1094" y="5870448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15171C"/>
                </a:solidFill>
                <a:latin typeface="Helvetica Neue"/>
              </a:defRPr>
            </a:pPr>
            <a:r>
              <a:t>1.08 пикс.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Подбор коэффициента 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Маленький логотип требует мягкого порога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08</a:t>
            </a:r>
          </a:p>
        </p:txBody>
      </p:sp>
      <p:pic>
        <p:nvPicPr>
          <p:cNvPr id="7" name="Picture 6" descr="ratio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88036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5074920"/>
            <a:ext cx="10543032" cy="1046988"/>
          </a:xfrm>
          <a:prstGeom prst="roundRect">
            <a:avLst>
              <a:gd name="adj" fmla="val 1222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0704" y="5312664"/>
            <a:ext cx="50292" cy="57150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330952"/>
            <a:ext cx="9701784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При ρ ≤ 0.6 верных пар не хватает, и RANSAC строит неправильную модель. Минимум ошибки — при ρ = 0.8, как в статье Лоу: важнее покрыть точками весь логотип, а оставшиеся ложные пары убирает RANSAC.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МЕТОДИКА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Опорное положение логотипа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Как численно оценить точность на реальном фото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09</a:t>
            </a:r>
          </a:p>
        </p:txBody>
      </p:sp>
      <p:pic>
        <p:nvPicPr>
          <p:cNvPr id="7" name="Picture 6" descr="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3108960" cy="388620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4343400" y="1938528"/>
            <a:ext cx="7022592" cy="1314450"/>
          </a:xfrm>
          <a:prstGeom prst="roundRect">
            <a:avLst>
              <a:gd name="adj" fmla="val 973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81144" y="2176272"/>
            <a:ext cx="50292" cy="83896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194560"/>
            <a:ext cx="6181344" cy="802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Истинное положение логотипа на снимке неизвестно. Опорная гомография строится по другим данным — эталону в полном разрешении (1002 точек): RANSAC с порогом 3 пикселя и уточнение по 47 инлайерам.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246120"/>
            <a:ext cx="7022592" cy="1046988"/>
          </a:xfrm>
          <a:prstGeom prst="roundRect">
            <a:avLst>
              <a:gd name="adj" fmla="val 1222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81144" y="3483863"/>
            <a:ext cx="50292" cy="57150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3502152"/>
            <a:ext cx="6181344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Проверка: контуры эталона, перенесённые на фото, легли на края букв и булочек с точностью до пикселя (слева, увеличение ×2).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434840"/>
            <a:ext cx="7022592" cy="1314450"/>
          </a:xfrm>
          <a:prstGeom prst="roundRect">
            <a:avLst>
              <a:gd name="adj" fmla="val 973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1144" y="4672583"/>
            <a:ext cx="50292" cy="83896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4690872"/>
            <a:ext cx="6181344" cy="802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Верное совпадение — в пределах 5 пикселей от опорного положения. Ошибка углов — среднее отклонение углов эталона при переносе оценённой и опорной гомографиями.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ЛОКАЛИЗАЦИЯ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Логотип найден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Зелёный контур — оценка, белый — опорное положение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10</a:t>
            </a:r>
          </a:p>
        </p:txBody>
      </p:sp>
      <p:pic>
        <p:nvPicPr>
          <p:cNvPr id="7" name="Picture 6" descr="loc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3052503" cy="411480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pic>
        <p:nvPicPr>
          <p:cNvPr id="8" name="Picture 7" descr="inl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938528"/>
            <a:ext cx="3429711" cy="251460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4160520" y="4754880"/>
            <a:ext cx="1623060" cy="1024128"/>
          </a:xfrm>
          <a:prstGeom prst="roundRect">
            <a:avLst>
              <a:gd name="adj" fmla="val 1250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4882896"/>
            <a:ext cx="11109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0B57D0"/>
                </a:solidFill>
                <a:latin typeface="Helvetica Neue"/>
              </a:defRPr>
            </a:pPr>
            <a:r>
              <a:t>34 из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5285232"/>
            <a:ext cx="11109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инлайеров RANSAC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21324" y="4754880"/>
            <a:ext cx="1623060" cy="1024128"/>
          </a:xfrm>
          <a:prstGeom prst="roundRect">
            <a:avLst>
              <a:gd name="adj" fmla="val 1250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7356" y="4882896"/>
            <a:ext cx="11109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0B57D0"/>
                </a:solidFill>
                <a:latin typeface="Helvetica Neue"/>
              </a:defRPr>
            </a:pPr>
            <a:r>
              <a:t>1.08 пикс.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7356" y="5285232"/>
            <a:ext cx="11109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среднее отклонение углов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8" y="4754880"/>
            <a:ext cx="1623060" cy="1024128"/>
          </a:xfrm>
          <a:prstGeom prst="roundRect">
            <a:avLst>
              <a:gd name="adj" fmla="val 1250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882896"/>
            <a:ext cx="11109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900" b="1">
                <a:solidFill>
                  <a:srgbClr val="0B57D0"/>
                </a:solidFill>
                <a:latin typeface="Helvetica Neue"/>
              </a:defRPr>
            </a:pPr>
            <a:r>
              <a:t>225 пикс.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285232"/>
            <a:ext cx="11109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диагональ логотипа на фото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42932" y="4754880"/>
            <a:ext cx="1623060" cy="1024128"/>
          </a:xfrm>
          <a:prstGeom prst="roundRect">
            <a:avLst>
              <a:gd name="adj" fmla="val 1250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8964" y="4882896"/>
            <a:ext cx="11109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-31°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8964" y="5285232"/>
            <a:ext cx="11109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поворот логотипа на фото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Разный угол обзора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Снимок наклоняется как плоскость: опора пересчитывается точно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11</a:t>
            </a:r>
          </a:p>
        </p:txBody>
      </p:sp>
      <p:pic>
        <p:nvPicPr>
          <p:cNvPr id="7" name="Picture 6" descr="angl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88036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5074920"/>
            <a:ext cx="10543032" cy="1046988"/>
          </a:xfrm>
          <a:prstGeom prst="roundRect">
            <a:avLst>
              <a:gd name="adj" fmla="val 1222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0704" y="5312664"/>
            <a:ext cx="50292" cy="57150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330952"/>
            <a:ext cx="9701784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Снимок уже сделан под углом около 40° (логотип сжат в 2.6 раза по горизонтали и в 2.0 по вертикали): отрицательные углы частично компенсируют наклон, положительные — добавляют. Логотип найден при -45°, -30°, 0°, +30°.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Граница применимости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Решает аффинное сжатие, а не размер объекта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12</a:t>
            </a:r>
          </a:p>
        </p:txBody>
      </p:sp>
      <p:pic>
        <p:nvPicPr>
          <p:cNvPr id="7" name="Picture 6" descr="ang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188" y="1901952"/>
            <a:ext cx="9584574" cy="192024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4023359"/>
            <a:ext cx="10500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5B6070"/>
                </a:solidFill>
                <a:latin typeface="Helvetica Neue"/>
              </a:defRPr>
            </a:pPr>
            <a:r>
              <a:t>Наклон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2693" y="4023359"/>
            <a:ext cx="1893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5B6070"/>
                </a:solidFill>
                <a:latin typeface="Helvetica Neue"/>
              </a:defRPr>
            </a:pPr>
            <a:r>
              <a:t>Ширина лого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5869" y="4023359"/>
            <a:ext cx="157715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5B6070"/>
                </a:solidFill>
                <a:latin typeface="Helvetica Neue"/>
              </a:defRPr>
            </a:pPr>
            <a:r>
              <a:t>После Лоу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72754" y="4023359"/>
            <a:ext cx="136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5B6070"/>
                </a:solidFill>
                <a:latin typeface="Helvetica Neue"/>
              </a:defRPr>
            </a:pPr>
            <a:r>
              <a:t>Верных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8779" y="4023359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5B6070"/>
                </a:solidFill>
                <a:latin typeface="Helvetica Neue"/>
              </a:defRPr>
            </a:pPr>
            <a:r>
              <a:t>Инлайеров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1094" y="4023359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5B6070"/>
                </a:solidFill>
                <a:latin typeface="Helvetica Neue"/>
              </a:defRPr>
            </a:pPr>
            <a:r>
              <a:t>Ошибка углов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97679"/>
            <a:ext cx="10543032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10500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-60°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2693" y="4389120"/>
            <a:ext cx="1893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93 пикс.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5869" y="4389120"/>
            <a:ext cx="157715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2754" y="4389120"/>
            <a:ext cx="136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8779" y="4389120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1094" y="4389120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126.1 пикс.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581144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54296"/>
            <a:ext cx="10500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-45°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2693" y="4654296"/>
            <a:ext cx="1893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130 пикс.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85869" y="4654296"/>
            <a:ext cx="157715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2754" y="4654296"/>
            <a:ext cx="136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8779" y="4654296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1094" y="4654296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9.4 пикс.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846320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919472"/>
            <a:ext cx="10500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-30°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2693" y="4919472"/>
            <a:ext cx="1893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157 пикс.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5869" y="4919472"/>
            <a:ext cx="157715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72754" y="4919472"/>
            <a:ext cx="136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8779" y="4919472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1094" y="4919472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2.9 пикс.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111496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184648"/>
            <a:ext cx="10500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0°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2693" y="5184648"/>
            <a:ext cx="1893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181 пикс.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85869" y="5184648"/>
            <a:ext cx="157715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59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72754" y="5184648"/>
            <a:ext cx="136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48779" y="5184648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1094" y="5184648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1.1 пикс.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5376672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449824"/>
            <a:ext cx="10500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+30°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82693" y="5449824"/>
            <a:ext cx="1893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171 пикс.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85869" y="5449824"/>
            <a:ext cx="157715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2754" y="5449824"/>
            <a:ext cx="136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48779" y="5449824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1094" y="5449824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5.0 пикс.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5641848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715000"/>
            <a:ext cx="10500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+45°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82693" y="5715000"/>
            <a:ext cx="1893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158 пикс.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5869" y="5715000"/>
            <a:ext cx="157715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72754" y="5715000"/>
            <a:ext cx="136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48779" y="5715000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41094" y="5715000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227.8 пикс.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5907024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5980175"/>
            <a:ext cx="10500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+75°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82693" y="5980175"/>
            <a:ext cx="1893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134 пикс.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85869" y="5980175"/>
            <a:ext cx="157715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72754" y="5980175"/>
            <a:ext cx="136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48779" y="5980175"/>
            <a:ext cx="16825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41094" y="5980175"/>
            <a:ext cx="23151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00" b="0">
                <a:solidFill>
                  <a:srgbClr val="15171C"/>
                </a:solidFill>
                <a:latin typeface="Helvetica Neue"/>
              </a:defRPr>
            </a:pPr>
            <a:r>
              <a:t>678.4 пикс.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ДОПОЛНИТЕЛЬНО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Устойчивость к условиям съёмки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Масштаб, поворот и освещение метод переносит почти без потерь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Условие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9584" y="1938528"/>
            <a:ext cx="13789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После фильтра Лоу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8227" y="1938528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Инлайеров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1539" y="1938528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Ошибка углов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12848"/>
            <a:ext cx="6766560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0428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исходная фотография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304288"/>
            <a:ext cx="13789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8227" y="2304288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1539" y="2304288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1.08 пикс.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596896"/>
            <a:ext cx="67665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7004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масштаб кадра ×0.75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670048"/>
            <a:ext cx="13789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8227" y="2670048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1539" y="2670048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0.45 пикс.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962656"/>
            <a:ext cx="67665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358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масштаб кадра ×0.5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3035808"/>
            <a:ext cx="13789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8227" y="3035808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1539" y="3035808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1.00 пикс.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328416"/>
            <a:ext cx="67665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40156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масштаб кадра ×0.35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9584" y="3401568"/>
            <a:ext cx="13789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8227" y="3401568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1539" y="3401568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0.77 пикс.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694176"/>
            <a:ext cx="67665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6732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яркость ×0.5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9584" y="3767328"/>
            <a:ext cx="13789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8227" y="3767328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1539" y="3767328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1.30 пикс.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059936"/>
            <a:ext cx="67665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133087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яркость ×1.6 +30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9584" y="4133087"/>
            <a:ext cx="13789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8227" y="4133087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1539" y="4133087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2.51 пикс.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4425696"/>
            <a:ext cx="67665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49884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яркость −70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9584" y="4498848"/>
            <a:ext cx="13789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18227" y="4498848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1539" y="4498848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1.77 пикс.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4791456"/>
            <a:ext cx="67665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8646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поворот кадра на 45°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9584" y="4864608"/>
            <a:ext cx="13789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44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8227" y="4864608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1539" y="4864608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1.89 пикс.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" y="5157216"/>
            <a:ext cx="67665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23036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поворот кадра на 90°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9584" y="5230368"/>
            <a:ext cx="13789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18227" y="5230368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1539" y="5230368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1.47 пикс.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5522976"/>
            <a:ext cx="67665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559612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поворот кадра на 180°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29584" y="5596128"/>
            <a:ext cx="13789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61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18227" y="5596128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1539" y="5596128"/>
            <a:ext cx="11082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1.78 пикс.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82127" y="1938528"/>
            <a:ext cx="3483864" cy="3721608"/>
          </a:xfrm>
          <a:prstGeom prst="roundRect">
            <a:avLst>
              <a:gd name="adj" fmla="val 367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119871" y="2176272"/>
            <a:ext cx="50292" cy="324612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30767" y="2194560"/>
            <a:ext cx="2642616" cy="3209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Дескриптор строится из направлений градиента и нормируется, поэтому равномерное изменение яркости из него уходит. Хуже всего — осветление с ростом контраста: красный и белый уходят в насыщение, и часть градиентов пропадает. Уменьшение кадра до ×0.35 (логотип около 60 пикселей) не мешает.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ДОПОЛНИТЕЛЬНО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Сравнение методов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На этой паре изображений полный перебор выигрывает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2097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Метод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2427" y="2029968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Дескрипторов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3881" y="2029968"/>
            <a:ext cx="12608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После Лоу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2029968"/>
            <a:ext cx="12608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Инлайеров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5070" y="2029968"/>
            <a:ext cx="22097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Ошибка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537" y="2029968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Время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04288"/>
            <a:ext cx="10543032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95728"/>
            <a:ext cx="22097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SIFT + BFMatcher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2427" y="2395728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3881" y="2395728"/>
            <a:ext cx="12608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6" y="2395728"/>
            <a:ext cx="12608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5070" y="2395728"/>
            <a:ext cx="22097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1.08 пикс.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537" y="2395728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0.8 мс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761488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834640"/>
            <a:ext cx="22097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SIFT + FLANN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2427" y="2834640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3881" y="2834640"/>
            <a:ext cx="12608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476" y="2834640"/>
            <a:ext cx="12608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5070" y="2834640"/>
            <a:ext cx="22097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1.27 пикс.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537" y="2834640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6.8 мс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200400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273552"/>
            <a:ext cx="22097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ORB + BFMatcher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2427" y="3273552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1522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3881" y="3273552"/>
            <a:ext cx="12608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4476" y="3273552"/>
            <a:ext cx="12608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5070" y="3273552"/>
            <a:ext cx="22097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4.38 пикс.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537" y="3273552"/>
            <a:ext cx="147172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3.1 мс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931920"/>
            <a:ext cx="10543032" cy="1463040"/>
          </a:xfrm>
          <a:prstGeom prst="roundRect">
            <a:avLst>
              <a:gd name="adj" fmla="val 875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60704" y="4169663"/>
            <a:ext cx="50292" cy="98755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4187952"/>
            <a:ext cx="9701784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600" b="0">
                <a:solidFill>
                  <a:srgbClr val="5B6070"/>
                </a:solidFill>
                <a:latin typeface="Helvetica Neue"/>
              </a:defRPr>
            </a:pPr>
            <a:r>
              <a:t>FLANN дал почти тот же набор пар (57 общих из 59), но на 247 × 1670 дескрипторах построение kd-индекса не окупается. ORB нашёл больше пар, но согласованы из них только 15: BRIEF хуже переносит перспективу и сжатие JPEG.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Вывод о применимости метода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Пункт 5 задания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355848" cy="2776118"/>
          </a:xfrm>
          <a:prstGeom prst="roundRect">
            <a:avLst>
              <a:gd name="adj" fmla="val 461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39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Что метод выдерживает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32887"/>
            <a:ext cx="2807208" cy="1861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Уменьшение кадра почти втрое, поворот камеры на любой угол, затемнение и осветление, умеренную перспективу. Ошибка локализации — пара пикселей при логотипе в сотни пикселей.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74519"/>
            <a:ext cx="3355848" cy="2776118"/>
          </a:xfrm>
          <a:prstGeom prst="roundRect">
            <a:avLst>
              <a:gd name="adj" fmla="val 461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148839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Где метод ломается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32887"/>
            <a:ext cx="2807208" cy="1861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Когда суммарный наклон превышает примерно 45–50°: SIFT инвариантен к повороту и масштабу, но не к аффинному сжатию окрестности. Нужны ASIFT или обучаемые дескрипторы.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874519"/>
            <a:ext cx="3355848" cy="2776118"/>
          </a:xfrm>
          <a:prstGeom prst="roundRect">
            <a:avLst>
              <a:gd name="adj" fmla="val 461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148839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Практический вывод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32887"/>
            <a:ext cx="2807208" cy="1861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Для контроля наружной рекламы метод пригоден без обучения: работает по одному эталону и выдаёт не только факт наличия логотипа, но и его границы. Условия: плоский контрастный объект и ракурс до 45–50°.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88382"/>
            <a:ext cx="10543032" cy="1046988"/>
          </a:xfrm>
          <a:prstGeom prst="roundRect">
            <a:avLst>
              <a:gd name="adj" fmla="val 1222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0704" y="5126126"/>
            <a:ext cx="50292" cy="57150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144414"/>
            <a:ext cx="9701784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Роль ступеней: без фильтрации верных совпадений 28 %, перекрёстная проверка даёт 42 %, фильтр Лоу — 58 %, а RANSAC завершает очистку и попутно выдаёт саму гомографию.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Ответы по материалу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Что такое ключевые точки и зачем они нужны?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94763"/>
            <a:ext cx="5042916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Локальные участки, которые можно повторно найти на другом снимке того же объекта. Они сводят сравнение изображений к сравнению небольших наборов дескрипторов: логотип описан 247 точками вместо 166 тысяч пикселей.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2393"/>
            <a:ext cx="504291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Чем отличаются SIFT и ORB?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35476"/>
            <a:ext cx="5042916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SIFT описывает окрестность вещественным вектором из 128 чисел и сравнивает по евклидову расстоянию. ORB использует FAST и бинарный BRIEF из 32 байт с расстоянием Хэмминга: быстрее, но хуже переносит перспективу.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3106"/>
            <a:ext cx="504291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В чём разница между BFMatcher и FLANN?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76189"/>
            <a:ext cx="5042916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BFMatcher сравнивает каждый дескриптор с каждым — результат точен, сложность растёт как произведение размеров. FLANN строит индекс и ищет приближённых соседей: выигрыш появляется на десятках тысяч дескрипторов.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Зачем нужна фильтрация по методу Лоу?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294763"/>
            <a:ext cx="5042916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Чтобы отбросить ненадёжные совпадения по критерию d₁ / d₂ &lt; ρ. В работе фильтр поднял долю верных совпадений с 28 % до 58 % при ρ = 0.8.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452393"/>
            <a:ext cx="504291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Где применяется сопоставление изображений?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735476"/>
            <a:ext cx="5042916" cy="1130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Поиск объекта или логотипа в сцене и контроль размещения рекламы, склейка панорам, дополненная реальность, визуальная локализация робота, восстановление трёхмерной сцены, поиск дубликатов, распознавание товаров на полке.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выполнено в ноутбуке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5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011680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SIFT нашёл 247 точек на логотипе и 1670 на фотографии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511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459736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BFMatcher с фильтром Лоу при ρ = 0.8 дал 59 совпадений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99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907792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RANSAC отобрал 34 инлайеров и построил гомографию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472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355848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Отклонение углов от опорного положения — 1.08 пикселя при диагонали логотипа 225 пикселей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953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803904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Эксперимент с наклоном снимка определил границу применимости — около 45–50°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43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251960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Измерена устойчивость к масштабу, освещению и повороту кадра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84064"/>
            <a:ext cx="105430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  <a:defRPr sz="1600" b="1">
                <a:solidFill>
                  <a:srgbClr val="0B57D0"/>
                </a:solidFill>
                <a:latin typeface="Helvetica Neue"/>
              </a:defRPr>
            </a:pPr>
            <a:r>
              <a:t>Связка SIFT → BFMatcher → фильтр Лоу → RANSAC находит логотип на реальной фотографии без обучения, по единственному эталонному изображению, но с чёткой границей по ракурсу съёмки.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