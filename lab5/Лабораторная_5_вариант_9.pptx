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5532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60"/>
              <a:t>ЛАБОРАТОРНАЯ РАБОТА 5 · ВАРИАНТ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532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800" b="1">
                <a:solidFill>
                  <a:srgbClr val="15171C"/>
                </a:solidFill>
                <a:latin typeface="Helvetica Neue"/>
              </a:defRPr>
            </a:pPr>
            <a:r>
              <a:t>Поиск логотипа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3800" b="1">
                <a:solidFill>
                  <a:srgbClr val="15171C"/>
                </a:solidFill>
                <a:latin typeface="Helvetica Neue"/>
              </a:defRPr>
            </a:pPr>
            <a:r>
              <a:t>в реальной сцене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77056"/>
            <a:ext cx="5532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  <a:r>
              <a:t>SIFT, дескрипторы, BFMatcher с фильтрацией по Лоу</a:t>
            </a:r>
          </a:p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  <a:r>
              <a:t>и локализация объекта методом RANSAC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42432"/>
            <a:ext cx="6903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Компьютерное зрение · OpenCV · NumPy · Matplotlib</a:t>
            </a:r>
          </a:p>
        </p:txBody>
      </p:sp>
      <p:pic>
        <p:nvPicPr>
          <p:cNvPr id="7" name="Picture 6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83" y="1914239"/>
            <a:ext cx="4645152" cy="3120962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5 · вариант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ПОСТАНОВКА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Задание варианта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Пять пунктов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5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2598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8176" y="207568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Найти ключевые точки на изображении логотипа (SIFT)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9748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6606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271576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Сопоставить логотип с его фотографией на баннере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3756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40614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35584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Использовать BFMatcher с фильтрацией по Лоу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77639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04622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995927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Сопоставить изображения с разным углом обзора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61772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8630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8176" y="4636007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Сделать вывод о применимости метода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2011680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5" y="2191512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337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5" y="2593848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ключевых точек на логотипе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1583" y="3194304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7615" y="3374136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5" y="3776472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чисел в одном дескрипторе SIFT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1583" y="4376928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57615" y="4556760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47 / 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5" y="4959096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инлайеров RANSAC из совпадений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ПОСТАНОВКА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Эталон и сцена, в которой его нужно найти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5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03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1532128" cy="265176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pic>
        <p:nvPicPr>
          <p:cNvPr id="8" name="Picture 7" descr="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1193" y="1965960"/>
            <a:ext cx="3946805" cy="265176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9" name="Rounded Rectangle 8"/>
          <p:cNvSpPr/>
          <p:nvPr/>
        </p:nvSpPr>
        <p:spPr>
          <a:xfrm>
            <a:off x="822960" y="4910328"/>
            <a:ext cx="10543032" cy="1314450"/>
          </a:xfrm>
          <a:prstGeom prst="roundRect">
            <a:avLst>
              <a:gd name="adj" fmla="val 9739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60704" y="5148072"/>
            <a:ext cx="50292" cy="838962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5166360"/>
            <a:ext cx="9701784" cy="802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Логотип 260 × 450 вырезан из кадра с позиции (95, 70). Сцена 1280 × 860 синтезирована: наклон 30°, проекция камерой-обскурой, изменение яркости, расфокусировка и гауссов шум. Синтез вместо съёмки выбран ради точной опорной гомографии — качество сопоставления оценивается численно, а не «на глаз».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ТЕОРИЯ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Конвейер из трёх ступеней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Ни одну ступень нельзя убрать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5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38528"/>
            <a:ext cx="3355848" cy="2776118"/>
          </a:xfrm>
          <a:prstGeom prst="roundRect">
            <a:avLst>
              <a:gd name="adj" fmla="val 461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SIFT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96896"/>
            <a:ext cx="2807208" cy="18617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Пирамида разностей гауссиан даёт точки, устойчивые к масштабу; доминирующее направление градиента — к повороту. Дескриптор — 128 чисел из гистограмм направлений в сетке 4 × 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938528"/>
            <a:ext cx="3355848" cy="2776118"/>
          </a:xfrm>
          <a:prstGeom prst="roundRect">
            <a:avLst>
              <a:gd name="adj" fmla="val 461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Фильтр Лоу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596896"/>
            <a:ext cx="2807208" cy="18617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Оставляем совпадение, только если d₁ / d₂ &lt; ρ. У верного соответствия ближайший сосед заметно ближе второго, у случайного оба соседа равноудалены.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938528"/>
            <a:ext cx="3355848" cy="2776118"/>
          </a:xfrm>
          <a:prstGeom prst="roundRect">
            <a:avLst>
              <a:gd name="adj" fmla="val 461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RANSAC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596896"/>
            <a:ext cx="2807208" cy="18617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Логотип плоский, значит все верные совпадения связаны одной гомографией 3 × 3. Случайные четвёрки точек дают модели, побеждает та, у которой больше инлайеров.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07254"/>
            <a:ext cx="10543032" cy="1146048"/>
          </a:xfrm>
          <a:prstGeom prst="roundRect">
            <a:avLst>
              <a:gd name="adj" fmla="val 11170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60704" y="5244998"/>
            <a:ext cx="50292" cy="670560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263286"/>
            <a:ext cx="9701784" cy="633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600" b="0">
                <a:solidFill>
                  <a:srgbClr val="5B6070"/>
                </a:solidFill>
                <a:latin typeface="Helvetica Neue"/>
              </a:defRPr>
            </a:pPr>
            <a:r>
              <a:t>Абсолютный порог на расстояние d₁ работал бы хуже: разные участки изображения имеют разную различимость, единого масштаба расстояний не существует.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Ключевые точки логотипа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Точки садятся туда, где градиент велик сразу в двух направлениях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5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05</a:t>
            </a:r>
          </a:p>
        </p:txBody>
      </p:sp>
      <p:pic>
        <p:nvPicPr>
          <p:cNvPr id="7" name="Picture 6" descr="logo_k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2194560" cy="3798277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3703320" y="1965960"/>
            <a:ext cx="7662672" cy="713232"/>
          </a:xfrm>
          <a:prstGeom prst="roundRect">
            <a:avLst>
              <a:gd name="adj" fmla="val 179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59352" y="2029967"/>
            <a:ext cx="71506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337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9352" y="2432303"/>
            <a:ext cx="7150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ключевых точек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2916936"/>
            <a:ext cx="7662672" cy="713232"/>
          </a:xfrm>
          <a:prstGeom prst="roundRect">
            <a:avLst>
              <a:gd name="adj" fmla="val 179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59352" y="2980944"/>
            <a:ext cx="71506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(337, 128)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9352" y="3383279"/>
            <a:ext cx="7150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матрица дескрипторов, float32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3867912"/>
            <a:ext cx="7662672" cy="713232"/>
          </a:xfrm>
          <a:prstGeom prst="roundRect">
            <a:avLst>
              <a:gd name="adj" fmla="val 179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59352" y="3931920"/>
            <a:ext cx="71506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1.8 … 68.7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9352" y="4334256"/>
            <a:ext cx="7150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размер окрестности, пикселей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03320" y="4818888"/>
            <a:ext cx="7662672" cy="713232"/>
          </a:xfrm>
          <a:prstGeom prst="roundRect">
            <a:avLst>
              <a:gd name="adj" fmla="val 179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59352" y="4882896"/>
            <a:ext cx="71506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28.8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9352" y="5285232"/>
            <a:ext cx="7150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точек на 10 000 пикселей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797296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На однородном жёлтом фоне точек практически нет: такую область невозможно отличить от соседних.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Ключевые точки сцены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Кроме логотипа в кадре есть текст, рамка и границы стены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5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06</a:t>
            </a:r>
          </a:p>
        </p:txBody>
      </p:sp>
      <p:pic>
        <p:nvPicPr>
          <p:cNvPr id="7" name="Picture 6" descr="banner_k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9533" y="1965960"/>
            <a:ext cx="5307773" cy="356616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366760" y="1965960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2135124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2316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2792" y="2537460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ключевых точек в сцене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3127248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3296412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337 × 2316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3698748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сравнений при полном переборе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4288536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22792" y="4457699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0.78 млн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22792" y="4860036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операций над 128-мерными векторами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BFMatcher и фильтр Лоу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ρ = 0.75: 40 лучших совпадений из 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5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07</a:t>
            </a:r>
          </a:p>
        </p:txBody>
      </p:sp>
      <p:pic>
        <p:nvPicPr>
          <p:cNvPr id="7" name="Picture 6" descr="mat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2742" y="1938528"/>
            <a:ext cx="5403466" cy="301752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5230368"/>
            <a:ext cx="3355848" cy="932688"/>
          </a:xfrm>
          <a:prstGeom prst="roundRect">
            <a:avLst>
              <a:gd name="adj" fmla="val 1372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404104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74 из 337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5806440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прошли фильтр Лоу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5230368"/>
            <a:ext cx="3355848" cy="932688"/>
          </a:xfrm>
          <a:prstGeom prst="roundRect">
            <a:avLst>
              <a:gd name="adj" fmla="val 1372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5404104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22.0 %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5806440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доля прошедших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5230368"/>
            <a:ext cx="3355848" cy="932688"/>
          </a:xfrm>
          <a:prstGeom prst="roundRect">
            <a:avLst>
              <a:gd name="adj" fmla="val 1372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5404104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63.5 %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5806440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из них верных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Почему фильтр работает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Отношение d₁ / d₂ разделяет верные и случайные совпадения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5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08</a:t>
            </a:r>
          </a:p>
        </p:txBody>
      </p:sp>
      <p:pic>
        <p:nvPicPr>
          <p:cNvPr id="7" name="Picture 6" descr="ratio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6720840" cy="324612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7882127" y="1965960"/>
            <a:ext cx="3483864" cy="3186684"/>
          </a:xfrm>
          <a:prstGeom prst="roundRect">
            <a:avLst>
              <a:gd name="adj" fmla="val 401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9871" y="2203704"/>
            <a:ext cx="50292" cy="2711196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7" y="2221991"/>
            <a:ext cx="2642616" cy="2674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Высокий правый горб — совпадения разных объектов: ближайший и второй сосед почти равноудалены. Длинный левый хвост — верные совпадения, у которых ближайший сосед заметно ближе. Порог рассекает распределение между этими группами.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28032"/>
            <a:ext cx="2842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Режим фильтрации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5008" y="4828032"/>
            <a:ext cx="16825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Совпадений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67324" y="4828032"/>
            <a:ext cx="147172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Верных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8779" y="4828032"/>
            <a:ext cx="16825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Точность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1094" y="4828032"/>
            <a:ext cx="23151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Ошибка углов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102352"/>
            <a:ext cx="10543032" cy="12801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93792"/>
            <a:ext cx="2842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без фильтра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5008" y="5193792"/>
            <a:ext cx="16825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337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67324" y="5193792"/>
            <a:ext cx="147172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8779" y="5193792"/>
            <a:ext cx="16825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19.3 %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1094" y="5193792"/>
            <a:ext cx="23151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1.17 пикс.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68112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541264"/>
            <a:ext cx="2842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crossCheck = True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5008" y="5541264"/>
            <a:ext cx="16825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67324" y="5541264"/>
            <a:ext cx="147172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58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8779" y="5541264"/>
            <a:ext cx="16825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44.3 %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1094" y="5541264"/>
            <a:ext cx="23151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1.05 пикс.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815584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94944" y="5833872"/>
            <a:ext cx="10799063" cy="329184"/>
          </a:xfrm>
          <a:prstGeom prst="roundRect">
            <a:avLst>
              <a:gd name="adj" fmla="val 19444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888736"/>
            <a:ext cx="2842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1">
                <a:solidFill>
                  <a:srgbClr val="15171C"/>
                </a:solidFill>
                <a:latin typeface="Helvetica Neue"/>
              </a:defRPr>
            </a:pPr>
            <a:r>
              <a:t>фильтр Лоу, ρ = 0.75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5008" y="5888736"/>
            <a:ext cx="16825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1">
                <a:solidFill>
                  <a:srgbClr val="15171C"/>
                </a:solidFill>
                <a:latin typeface="Helvetica Neue"/>
              </a:defRPr>
            </a:pPr>
            <a:r>
              <a:t>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67324" y="5888736"/>
            <a:ext cx="147172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1">
                <a:solidFill>
                  <a:srgbClr val="15171C"/>
                </a:solidFill>
                <a:latin typeface="Helvetica Neue"/>
              </a:defRPr>
            </a:pPr>
            <a:r>
              <a:t>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48779" y="5888736"/>
            <a:ext cx="16825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1">
                <a:solidFill>
                  <a:srgbClr val="15171C"/>
                </a:solidFill>
                <a:latin typeface="Helvetica Neue"/>
              </a:defRPr>
            </a:pPr>
            <a:r>
              <a:t>63.5 %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41094" y="5888736"/>
            <a:ext cx="23151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1">
                <a:solidFill>
                  <a:srgbClr val="15171C"/>
                </a:solidFill>
                <a:latin typeface="Helvetica Neue"/>
              </a:defRPr>
            </a:pPr>
            <a:r>
              <a:t>1.23 пикс.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Подбор коэффициента 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Компромисс между количеством и чистотой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5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09</a:t>
            </a:r>
          </a:p>
        </p:txBody>
      </p:sp>
      <p:pic>
        <p:nvPicPr>
          <p:cNvPr id="7" name="Picture 6" descr="ratio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38528"/>
            <a:ext cx="10543032" cy="288036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5074920"/>
            <a:ext cx="10543032" cy="1046988"/>
          </a:xfrm>
          <a:prstGeom prst="roundRect">
            <a:avLst>
              <a:gd name="adj" fmla="val 1222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60704" y="5312664"/>
            <a:ext cx="50292" cy="571500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5330952"/>
            <a:ext cx="9701784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При ρ = 0.5 остаются только безошибочные пары (100 % точности), но их всего 25 — они хуже покрывают площадь объекта, поэтому ошибка локализации ведёт себя немонотонно и при ρ = 0.7 оказывается меньше, чем при ρ = 0.5.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ЛОКАЛИЗАЦИЯ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Логотип найден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Зелёный контур — оценка, белый — истина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5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10</a:t>
            </a:r>
          </a:p>
        </p:txBody>
      </p:sp>
      <p:pic>
        <p:nvPicPr>
          <p:cNvPr id="7" name="Picture 6" descr="loc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2089" y="1965960"/>
            <a:ext cx="3742660" cy="251460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366760" y="1965960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2135124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47 из 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2792" y="2537460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инлайеров RANSAC (63.5 %)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3127248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3296412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1.23 пикс.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3698748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средняя ошибка положения углов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4288536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22792" y="4457699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352 пикс.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22792" y="4860036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диагональ логотипа в сцене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626864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Ошибки четырёх углов: 0.53, 0.78, 0.42, 3.20 пикселя — оценённая гомография практически совпала с эталонной.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Разный угол обзора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Наклон баннера от 0° до 75°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5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11</a:t>
            </a:r>
          </a:p>
        </p:txBody>
      </p:sp>
      <p:pic>
        <p:nvPicPr>
          <p:cNvPr id="7" name="Picture 6" descr="angle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38528"/>
            <a:ext cx="10543032" cy="288036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5074920"/>
            <a:ext cx="10543032" cy="1046988"/>
          </a:xfrm>
          <a:prstGeom prst="roundRect">
            <a:avLst>
              <a:gd name="adj" fmla="val 1222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60704" y="5312664"/>
            <a:ext cx="50292" cy="571500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5330952"/>
            <a:ext cx="9701784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До 45° логотип находится надёжно. Начиная с 55° верных совпадений почти не остаётся, RANSAC собирает случайную модель, и ошибка положения углов подскакивает на два порядка — эта область закрашена на графиках.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Граница применимости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Контур вырождается там, где кончаются верные совпадения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5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12</a:t>
            </a:r>
          </a:p>
        </p:txBody>
      </p:sp>
      <p:pic>
        <p:nvPicPr>
          <p:cNvPr id="7" name="Picture 6" descr="ang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878" y="1901952"/>
            <a:ext cx="8529194" cy="164592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3858768"/>
            <a:ext cx="105000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Угол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2693" y="3858768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Ширина лого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85869" y="3858768"/>
            <a:ext cx="1577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После Лоу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72754" y="3858768"/>
            <a:ext cx="136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Верных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48779" y="3858768"/>
            <a:ext cx="16825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Инлайеров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41094" y="3858768"/>
            <a:ext cx="23151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Ошибка углов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133087"/>
            <a:ext cx="10543032" cy="12801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224528"/>
            <a:ext cx="105000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0°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82693" y="4224528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206 пикс.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5869" y="4224528"/>
            <a:ext cx="1577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2754" y="4224528"/>
            <a:ext cx="136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8779" y="4224528"/>
            <a:ext cx="16825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41094" y="4224528"/>
            <a:ext cx="23151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0.62 пикс.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443984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517136"/>
            <a:ext cx="105000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15°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2693" y="4517136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177 пикс.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85869" y="4517136"/>
            <a:ext cx="1577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76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72754" y="4517136"/>
            <a:ext cx="136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54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8779" y="4517136"/>
            <a:ext cx="16825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54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1094" y="4517136"/>
            <a:ext cx="23151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1.42 пикс.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736592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809744"/>
            <a:ext cx="105000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30°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82693" y="4809744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144 пикс.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5869" y="4809744"/>
            <a:ext cx="1577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2754" y="4809744"/>
            <a:ext cx="136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48779" y="4809744"/>
            <a:ext cx="16825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41094" y="4809744"/>
            <a:ext cx="23151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0.64 пикс.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029200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102352"/>
            <a:ext cx="105000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45°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82693" y="5102352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109 пикс.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85869" y="5102352"/>
            <a:ext cx="1577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72754" y="5102352"/>
            <a:ext cx="136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48779" y="5102352"/>
            <a:ext cx="16825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41094" y="5102352"/>
            <a:ext cx="23151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1.87 пикс.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5321808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394960"/>
            <a:ext cx="105000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55°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82693" y="5394960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86 пикс.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85869" y="5394960"/>
            <a:ext cx="1577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72754" y="5394960"/>
            <a:ext cx="136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48779" y="5394960"/>
            <a:ext cx="16825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41094" y="5394960"/>
            <a:ext cx="23151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165.72 пикс.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" y="5614416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687568"/>
            <a:ext cx="105000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65°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82693" y="5687568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64 пикс.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85869" y="5687568"/>
            <a:ext cx="1577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72754" y="5687568"/>
            <a:ext cx="136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48779" y="5687568"/>
            <a:ext cx="16825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41094" y="5687568"/>
            <a:ext cx="23151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337.10 пикс.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5907024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" y="5980176"/>
            <a:ext cx="105000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75°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82693" y="5980176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43 пикс.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85869" y="5980176"/>
            <a:ext cx="1577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72754" y="5980176"/>
            <a:ext cx="136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48779" y="5980176"/>
            <a:ext cx="16825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41094" y="5980176"/>
            <a:ext cx="23151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405.45 пикс.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ДОПОЛНИТЕЛЬНО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Устойчивость к съёмочным условиям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Масштаб и освещение метод переносит почти без потерь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5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2596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Условие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9584" y="2057400"/>
            <a:ext cx="13789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После фильтра Лоу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8227" y="2057400"/>
            <a:ext cx="12435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Инлайеров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1539" y="2057400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Ошибка углов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331720"/>
            <a:ext cx="6766560" cy="12801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23160"/>
            <a:ext cx="2596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исходная сцена, наклон 20°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423160"/>
            <a:ext cx="13789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79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8227" y="2423160"/>
            <a:ext cx="12435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539" y="2423160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0.65 пикс.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770632"/>
            <a:ext cx="6766560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843784"/>
            <a:ext cx="2596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масштаб сцены ×0.6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9584" y="2843784"/>
            <a:ext cx="13789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8227" y="2843784"/>
            <a:ext cx="12435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1539" y="2843784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1.41 пикс.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191256"/>
            <a:ext cx="6766560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264408"/>
            <a:ext cx="2596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масштаб сцены ×0.4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9584" y="3264408"/>
            <a:ext cx="13789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8227" y="3264408"/>
            <a:ext cx="12435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1539" y="3264408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0.82 пикс.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611880"/>
            <a:ext cx="6766560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685032"/>
            <a:ext cx="2596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масштаб сцены ×0.25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9584" y="3685032"/>
            <a:ext cx="13789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18227" y="3685032"/>
            <a:ext cx="12435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1539" y="3685032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0.71 пикс.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032504"/>
            <a:ext cx="6766560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105656"/>
            <a:ext cx="2596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яркость ×0.5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9584" y="4105656"/>
            <a:ext cx="13789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48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18227" y="4105656"/>
            <a:ext cx="12435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1539" y="4105656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0.88 пикс.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4453128"/>
            <a:ext cx="6766560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526280"/>
            <a:ext cx="2596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яркость ×1.6 +30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9584" y="4526280"/>
            <a:ext cx="13789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18227" y="4526280"/>
            <a:ext cx="12435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71539" y="4526280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1.69 пикс.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4873752"/>
            <a:ext cx="6766560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946904"/>
            <a:ext cx="2596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яркость −70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9584" y="4946904"/>
            <a:ext cx="13789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18227" y="4946904"/>
            <a:ext cx="12435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1539" y="4946904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4.19 пикс.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82127" y="2011680"/>
            <a:ext cx="3483864" cy="3186684"/>
          </a:xfrm>
          <a:prstGeom prst="roundRect">
            <a:avLst>
              <a:gd name="adj" fmla="val 401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119871" y="2249424"/>
            <a:ext cx="50292" cy="2711196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30767" y="2267712"/>
            <a:ext cx="2642616" cy="2674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Дескриптор строится из направлений градиента и нормируется, поэтому равномерное изменение яркости из него уходит. Уменьшение сцены в четыре раза сокращает число инлайеров, но ошибка локализации остаётся в пределах пары пикселей.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ДОПОЛНИТЕЛЬНО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Сравнение методов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На этой паре изображений полный перебор выигрывает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5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29968"/>
            <a:ext cx="22097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Метод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2427" y="2029968"/>
            <a:ext cx="147172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Дескрипторов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3881" y="2029968"/>
            <a:ext cx="12608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После Лоу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2029968"/>
            <a:ext cx="12608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Инлайеров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5070" y="2029968"/>
            <a:ext cx="22097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Ошибка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537" y="2029968"/>
            <a:ext cx="147172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Время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04288"/>
            <a:ext cx="10543032" cy="12801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395728"/>
            <a:ext cx="22097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SIFT + BFMatcher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2427" y="2395728"/>
            <a:ext cx="147172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337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3881" y="2395728"/>
            <a:ext cx="12608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4476" y="2395728"/>
            <a:ext cx="12608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5070" y="2395728"/>
            <a:ext cx="22097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1.23 пикс.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537" y="2395728"/>
            <a:ext cx="147172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1.2 мс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2761488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834640"/>
            <a:ext cx="22097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SIFT + FLANN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42427" y="2834640"/>
            <a:ext cx="147172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337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3881" y="2834640"/>
            <a:ext cx="12608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75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4476" y="2834640"/>
            <a:ext cx="12608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47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65070" y="2834640"/>
            <a:ext cx="22097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0.48 пикс.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537" y="2834640"/>
            <a:ext cx="147172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9.0 мс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3200400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273552"/>
            <a:ext cx="22097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ORB + BFMatcher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42427" y="3273552"/>
            <a:ext cx="147172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985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3881" y="3273552"/>
            <a:ext cx="12608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4476" y="3273552"/>
            <a:ext cx="12608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5070" y="3273552"/>
            <a:ext cx="22097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гомография не построена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537" y="3273552"/>
            <a:ext cx="147172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1.7 мс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3931920"/>
            <a:ext cx="10543032" cy="1146048"/>
          </a:xfrm>
          <a:prstGeom prst="roundRect">
            <a:avLst>
              <a:gd name="adj" fmla="val 11170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60704" y="4169663"/>
            <a:ext cx="50292" cy="670560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71600" y="4187952"/>
            <a:ext cx="9701784" cy="633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600" b="0">
                <a:solidFill>
                  <a:srgbClr val="5B6070"/>
                </a:solidFill>
                <a:latin typeface="Helvetica Neue"/>
              </a:defRPr>
            </a:pPr>
            <a:r>
              <a:t>FLANN дал тот же набор пар, но на 337 × 2316 дескрипторах построение kd-индекса не окупается. ORB непригоден: BRIEF слишком чувствителен к перспективе и размытию.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Вывод о применимости метода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Пункт 5 задания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5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74519"/>
            <a:ext cx="3355848" cy="3039465"/>
          </a:xfrm>
          <a:prstGeom prst="roundRect">
            <a:avLst>
              <a:gd name="adj" fmla="val 421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48839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Что метод выдерживает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32887"/>
            <a:ext cx="2807208" cy="2125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Перспективу до 45°, уменьшение сцены вчетверо, затемнение и осветление, поворот кадра на любой угол. Ошибка локализации при этом остаётся в пределах пары пикселей при размере объекта в сотни пикселей.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874519"/>
            <a:ext cx="3355848" cy="3039465"/>
          </a:xfrm>
          <a:prstGeom prst="roundRect">
            <a:avLst>
              <a:gd name="adj" fmla="val 421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2148839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Где метод ломается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532887"/>
            <a:ext cx="2807208" cy="2125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С наклона 55°: SIFT инвариантен к повороту и масштабу, но не к аффинному скосу — окрестность точки сжимается вдоль одного направления, и дескриптор перестаёт совпадать. Нужны ASIFT или обучаемые дескрипторы.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874519"/>
            <a:ext cx="3355848" cy="3039465"/>
          </a:xfrm>
          <a:prstGeom prst="roundRect">
            <a:avLst>
              <a:gd name="adj" fmla="val 421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148839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Практический вывод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532887"/>
            <a:ext cx="2807208" cy="2125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Для контроля размещения рекламы метод пригоден без обучения: он работает по одному эталону и выдаёт не только факт наличия объекта, но и его границы. Условия: плоский текстурный логотип и ракурс до 45°.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151729"/>
            <a:ext cx="10543032" cy="1046988"/>
          </a:xfrm>
          <a:prstGeom prst="roundRect">
            <a:avLst>
              <a:gd name="adj" fmla="val 1222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60704" y="5389473"/>
            <a:ext cx="50292" cy="571500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407761"/>
            <a:ext cx="9701784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Роль ступеней: без фильтрации верных совпадений 19 %, перекрёстная проверка даёт 44 %, фильтр Лоу — 64 %, а RANSAC завершает очистку и попутно выдаёт саму гомографию.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ЗАЩИТА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Контрольные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Ответы по материалу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5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Что такое ключевые точки и зачем они нужны?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94763"/>
            <a:ext cx="5042916" cy="11301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Локальные участки, которые можно повторно найти на другом снимке того же объекта. Они сводят сравнение изображений к сравнению небольших наборов дескрипторов: логотип описан 337 точками вместо 117 тысяч пикселей.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52393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Чем отличаются SIFT и ORB?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35476"/>
            <a:ext cx="5042916" cy="11301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SIFT описывает окрестность вещественным вектором из 128 чисел и сравнивает по евклидову расстоянию. ORB использует FAST и бинарный BRIEF из 32 байт с расстоянием Хэмминга: быстрее, но хуже переносит перспективу.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93106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В чём разница между BFMatcher и FLANN?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176189"/>
            <a:ext cx="5042916" cy="11301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BFMatcher сравнивает каждый дескриптор с каждым — результат точен, сложность растёт как произведение размеров. FLANN строит индекс и ищет приближённых соседей: выигрыш появляется на десятках тысяч дескрипторов.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Зачем нужна фильтрация по методу Лоу?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6" y="2294763"/>
            <a:ext cx="5042916" cy="11301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Чтобы отбросить ненадёжные совпадения по критерию d₁ / d₂ &lt; ρ. В работе фильтр поднял долю верных совпадений с 19 % до 64 % при ρ = 0.75.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3452393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Где применяется сопоставление изображений?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3735476"/>
            <a:ext cx="5042916" cy="11301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Поиск объекта или логотипа в сцене и контроль размещения рекламы, склейка панорам, дополненная реальность, визуальная локализация робота, восстановление трёхмерной сцены, поиск дубликатов, распознавание товаров на полке.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Итоги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Что выполнено в ноутбуке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5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2011680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SIFT нашёл 337 точек на логотипе и 2316 в сцене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5511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459736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BFMatcher с фильтром Лоу при ρ = 0.75 дал 74 совпадений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9923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2907792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RANSAC отобрал 47 инлайеров и построил гомографию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4728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355848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Ошибка локализации углов — 1.23 пикселя при диагонали логотипа 352 пикселей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89534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3803904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Эксперимент с наклоном от 0° до 75° определил границу применимости — около 45°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3434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251960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Измерена устойчивость к масштабу, освещению и повороту кадра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84064"/>
            <a:ext cx="105430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  <a:defRPr sz="1600" b="1">
                <a:solidFill>
                  <a:srgbClr val="0B57D0"/>
                </a:solidFill>
                <a:latin typeface="Helvetica Neue"/>
              </a:defRPr>
            </a:pPr>
            <a:r>
              <a:t>Связка SIFT → BFMatcher → фильтр Лоу → RANSAC решает задачу поиска логотипа без обучения, по единственному эталонному изображению, но с чёткой границей по ракурсу съёмки.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